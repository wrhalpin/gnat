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</p:sldIdLst>
  <p:notesMasterIdLst>
    <p:notesMasterId r:id="rId3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notesMaster" Target="notesMasters/notesMaster1.xml"/><Relationship Id="rId36" Type="http://schemas.openxmlformats.org/officeDocument/2006/relationships/presProps" Target="presProps.xml"/><Relationship Id="rId37" Type="http://schemas.openxmlformats.org/officeDocument/2006/relationships/viewProps" Target="viewProps.xml"/><Relationship Id="rId38" Type="http://schemas.openxmlformats.org/officeDocument/2006/relationships/theme" Target="theme/theme1.xml"/><Relationship Id="rId3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01168" y="4480560"/>
            <a:ext cx="8942832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64008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5" name="Text 3"/>
          <p:cNvSpPr/>
          <p:nvPr/>
        </p:nvSpPr>
        <p:spPr>
          <a:xfrm>
            <a:off x="457200" y="1600200"/>
            <a:ext cx="8229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GNAT's Not Another TIP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45720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1206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Connectors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14884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20370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840480" y="2606040"/>
            <a:ext cx="1508760" cy="32918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89534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5532120" y="2606040"/>
            <a:ext cx="150876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8698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223760" y="2606040"/>
            <a:ext cx="150876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7278624" y="2624328"/>
            <a:ext cx="139903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Multi-Format Reports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324612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Universal threat intelligence library — abstract, normalise, automate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457200" y="452628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1.9.0  ·  Python 3.9+  ·  STIX 2.1  ·  159 Platform Connectors  ·  5,100+ Tests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Problem: Fragmented Threat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91440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is an island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32004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Numerous Different APIs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50292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platform has its own auth scheme, data model, and SDK. ThreatQ OAuth2 ≠ CrowdStrike OAuth2 ≠ VirusTotal API key.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2004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2004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Data Model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 indicator in ThreatQ looks nothing like one in CrowdStrike or Splunk. Correlation requires manual mapping.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17720" y="146304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4617720" y="146304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00600" y="157276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Code Per Integration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4800600" y="188366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new source or destination means new scripts with no shared error handling, retry logic, or scheduling.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617720" y="3017520"/>
            <a:ext cx="397764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4617720" y="3017520"/>
            <a:ext cx="91440" cy="137160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00600" y="3127248"/>
            <a:ext cx="3703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Fragile Automation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800600" y="3438144"/>
            <a:ext cx="37033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Ad-hoc scripts break when APIs change. No tests, no versioning, no consistent patterns.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Solution: One Library, Every Platform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 GNAT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SDK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API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 →  custom code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auth, errors, retries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Each: own data model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shared testing or scheduling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160520" y="2926080"/>
            <a:ext cx="4572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4114800" y="30632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74920" y="868680"/>
            <a:ext cx="3749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GNAT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5212080" y="1325880"/>
            <a:ext cx="347472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GNATConfig  →  one config.ini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GNATClient  →  one interface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everywhere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IngestPipeline  →  pull any source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ExportPipeline  →  push to EDLs/CE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 →  all jobs, one place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ReportGenerator  →  PDF/HTML/DOCX</a:t>
            </a:r>
            <a:endParaRPr lang="en-US" sz="1000" dirty="0"/>
          </a:p>
          <a:p>
            <a:pPr marL="342900" indent="-342900">
              <a:buSzPct val="100000"/>
              <a:buChar char="•"/>
            </a:pPr>
            <a:r>
              <a:rPr lang="en-US" sz="10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 →  shared knowledge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Architecture: The Middle Layer Model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777240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457200" y="822960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/ AUTOMATION LAYER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57200" y="1042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Workstations · SOAR · Scheduled jobs · CLI · TUI · Web Dashboard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4434840" y="1298448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9" name="Shape 7"/>
          <p:cNvSpPr/>
          <p:nvPr/>
        </p:nvSpPr>
        <p:spPr>
          <a:xfrm>
            <a:off x="320040" y="1389888"/>
            <a:ext cx="8503920" cy="5212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457200" y="1435608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CORE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57200" y="1655064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· Export · AI Agents · Research Library · Reports · NLP · TAXII 2.1 · Solr Search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434840" y="1911096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3" name="Shape 11"/>
          <p:cNvSpPr/>
          <p:nvPr/>
        </p:nvSpPr>
        <p:spPr>
          <a:xfrm>
            <a:off x="320040" y="2002536"/>
            <a:ext cx="8503920" cy="52120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048256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+ 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457200" y="2267712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 · ThreatActor · Vulnerability · AttackPattern · Malware · Relationship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434840" y="2523744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7" name="Shape 15"/>
          <p:cNvSpPr/>
          <p:nvPr/>
        </p:nvSpPr>
        <p:spPr>
          <a:xfrm>
            <a:off x="320040" y="2615184"/>
            <a:ext cx="8503920" cy="52120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57200" y="2660904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LAYER (159 platforms)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2880360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Splunk · Sentinel · VirusTotal · Mandiant · Orca · Wiz · MISP · MITRE ATT&amp;CK · Joe Sandbox · Velociraptor · Code42 · Okta · Entra ID · Dataminr · HackerOne · ...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4434840" y="3136392"/>
            <a:ext cx="0" cy="9144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21" name="Shape 19"/>
          <p:cNvSpPr/>
          <p:nvPr/>
        </p:nvSpPr>
        <p:spPr>
          <a:xfrm>
            <a:off x="320040" y="3227832"/>
            <a:ext cx="8503920" cy="521208"/>
          </a:xfrm>
          <a:prstGeom prst="rect">
            <a:avLst/>
          </a:prstGeom>
          <a:solidFill>
            <a:srgbClr val="4B55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57200" y="3273552"/>
            <a:ext cx="4114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EXTERNAL PLATFORMS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457200" y="3493008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TIPs · SIEMs · EDRs · Vuln Scanners · CNAPP/ASM · SOAR · NDR · AI Assistants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320040" y="3913632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urllib3 / httpx transport  ·  zero cloud dependencies  ·  INI config  ·  multi-tenant namespace isolation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320040" y="4297680"/>
            <a:ext cx="8503920" cy="512064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29768" y="4334256"/>
            <a:ext cx="8284464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Portability: swap one platform, nothing else changes  ·  Coherence: one scheduler, one log stream, one health check  ·  Safety: AI ceiling=60, HITL gate, RBAC, audit trail  ·  Scale: SQLite → Postgres with one config change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Platform Connectors — One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182880" y="804672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82880" y="804672"/>
            <a:ext cx="286207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74320" y="896112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COMMERCIAL THREAT INTEL</a:t>
            </a:r>
            <a:endParaRPr lang="en-US" sz="750" dirty="0"/>
          </a:p>
        </p:txBody>
      </p:sp>
      <p:sp>
        <p:nvSpPr>
          <p:cNvPr id="8" name="Text 6"/>
          <p:cNvSpPr/>
          <p:nvPr/>
        </p:nvSpPr>
        <p:spPr>
          <a:xfrm>
            <a:off x="274320" y="1106424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ThreatQ · CrowdStrike · Recorded Future · VirusTotal · Mandiant · MS Defender TI · ThreatStream · SOCRadar · Feedly · CloudSEK · PulseDive · ThreatConnect</a:t>
            </a:r>
            <a:endParaRPr lang="en-US" sz="650" dirty="0"/>
          </a:p>
        </p:txBody>
      </p:sp>
      <p:sp>
        <p:nvSpPr>
          <p:cNvPr id="9" name="Shape 7"/>
          <p:cNvSpPr/>
          <p:nvPr/>
        </p:nvSpPr>
        <p:spPr>
          <a:xfrm>
            <a:off x="3136392" y="804672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36392" y="804672"/>
            <a:ext cx="286207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27832" y="896112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DARK WEB / CYBERCRIME INTEL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3227832" y="1106424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Flashpoint · Intel 471 · Group-IB · HudsonRock · Cyble Vision · ZeroFox · FLARE · Yeti · Cofense Intelligence</a:t>
            </a:r>
            <a:endParaRPr lang="en-US" sz="650" dirty="0"/>
          </a:p>
        </p:txBody>
      </p:sp>
      <p:sp>
        <p:nvSpPr>
          <p:cNvPr id="13" name="Shape 11"/>
          <p:cNvSpPr/>
          <p:nvPr/>
        </p:nvSpPr>
        <p:spPr>
          <a:xfrm>
            <a:off x="6089904" y="804672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89904" y="804672"/>
            <a:ext cx="2862072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81344" y="896112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 FEEDS &amp; VENDOR REPUTATION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6181344" y="1106424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 · MISP · OpenCTI · HIBP · Synapse · OSINT Feed · MITRE ATT&amp;CK · Abuse.ch (5 feeds) · OSV · VulnCheck · CISA KEV · Shodan · GreyNoise · Shadowserver · AbuseIPDB · Project Honey Pot · crt.sh · Google CT · Cisco Talos · FortiGuard · Kaspersky OpenTIP · ESET TI · Bitdefender IZ · Cloudflare Intel · TRM Labs</a:t>
            </a:r>
            <a:endParaRPr lang="en-US" sz="650" dirty="0"/>
          </a:p>
        </p:txBody>
      </p:sp>
      <p:sp>
        <p:nvSpPr>
          <p:cNvPr id="17" name="Shape 15"/>
          <p:cNvSpPr/>
          <p:nvPr/>
        </p:nvSpPr>
        <p:spPr>
          <a:xfrm>
            <a:off x="182880" y="1847088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182880" y="1847088"/>
            <a:ext cx="286207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74320" y="1938528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SIEM &amp; LOG ANALYTICS</a:t>
            </a:r>
            <a:endParaRPr lang="en-US" sz="750" dirty="0"/>
          </a:p>
        </p:txBody>
      </p:sp>
      <p:sp>
        <p:nvSpPr>
          <p:cNvPr id="20" name="Text 18"/>
          <p:cNvSpPr/>
          <p:nvPr/>
        </p:nvSpPr>
        <p:spPr>
          <a:xfrm>
            <a:off x="274320" y="214884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Elastic SIEM · IBM QRadar · Microsoft Sentinel · Graylog · OSSIM · Security Onion · Wazuh · Google Chronicle · LogRhythm · Datadog · Cribl Stream</a:t>
            </a:r>
            <a:endParaRPr lang="en-US" sz="650" dirty="0"/>
          </a:p>
        </p:txBody>
      </p:sp>
      <p:sp>
        <p:nvSpPr>
          <p:cNvPr id="21" name="Shape 19"/>
          <p:cNvSpPr/>
          <p:nvPr/>
        </p:nvSpPr>
        <p:spPr>
          <a:xfrm>
            <a:off x="3136392" y="1847088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36392" y="1847088"/>
            <a:ext cx="286207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27832" y="1938528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SOAR, CASE MGMT &amp; DFIR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3227832" y="214884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Palo Alto XSOAR · TheHive · GreyMatter · ServiceNow · ServiceNow SecOps · Jira · FortiSOAR · Vertex Synapse · Velociraptor · Magnet AXIOM · HackerOne · Bugcrowd</a:t>
            </a:r>
            <a:endParaRPr lang="en-US" sz="650" dirty="0"/>
          </a:p>
        </p:txBody>
      </p:sp>
      <p:sp>
        <p:nvSpPr>
          <p:cNvPr id="25" name="Shape 23"/>
          <p:cNvSpPr/>
          <p:nvPr/>
        </p:nvSpPr>
        <p:spPr>
          <a:xfrm>
            <a:off x="6089904" y="1847088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89904" y="1847088"/>
            <a:ext cx="2862072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81344" y="1938528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 DETECTION &amp; OT/ICS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6181344" y="2148840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Snort IDS · Suricata · Zeek · Vectra AI NDR · ExtraHop Reveal(x) · Darktrace · Cisco Umbrella · Nozomi Networks · Dragos Platform · Claroty</a:t>
            </a:r>
            <a:endParaRPr lang="en-US" sz="650" dirty="0"/>
          </a:p>
        </p:txBody>
      </p:sp>
      <p:sp>
        <p:nvSpPr>
          <p:cNvPr id="29" name="Shape 27"/>
          <p:cNvSpPr/>
          <p:nvPr/>
        </p:nvSpPr>
        <p:spPr>
          <a:xfrm>
            <a:off x="182880" y="2889504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182880" y="2889504"/>
            <a:ext cx="2862072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274320" y="2980944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ENDPOINT, XDR &amp; MDR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274320" y="3191256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SentinelOne · Carbon Black · Trellix · Sophos · FortiEDR · FortiSIEM · Cortex XDR/XSIAM · Trend Micro Vision One · Tanium · Proofpoint · Huntress · Arctic Wolf · Red Canary</a:t>
            </a:r>
            <a:endParaRPr lang="en-US" sz="650" dirty="0"/>
          </a:p>
        </p:txBody>
      </p:sp>
      <p:sp>
        <p:nvSpPr>
          <p:cNvPr id="33" name="Shape 31"/>
          <p:cNvSpPr/>
          <p:nvPr/>
        </p:nvSpPr>
        <p:spPr>
          <a:xfrm>
            <a:off x="3136392" y="2889504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3136392" y="2889504"/>
            <a:ext cx="2862072" cy="5486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3227832" y="2980944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 &amp; EXPOSURE MGMT</a:t>
            </a:r>
            <a:endParaRPr lang="en-US" sz="750" dirty="0"/>
          </a:p>
        </p:txBody>
      </p:sp>
      <p:sp>
        <p:nvSpPr>
          <p:cNvPr id="36" name="Text 34"/>
          <p:cNvSpPr/>
          <p:nvPr/>
        </p:nvSpPr>
        <p:spPr>
          <a:xfrm>
            <a:off x="3227832" y="3191256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Rapid7 InsightVM/IDR · Nucleus Security · Tenable One · Qualys VMDR · Greenbone/OpenVAS · DefectDojo</a:t>
            </a:r>
            <a:endParaRPr lang="en-US" sz="650" dirty="0"/>
          </a:p>
        </p:txBody>
      </p:sp>
      <p:sp>
        <p:nvSpPr>
          <p:cNvPr id="37" name="Shape 35"/>
          <p:cNvSpPr/>
          <p:nvPr/>
        </p:nvSpPr>
        <p:spPr>
          <a:xfrm>
            <a:off x="6089904" y="2889504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6089904" y="2889504"/>
            <a:ext cx="286207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181344" y="2980944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CLOUD, ASM &amp; ASSET MGMT</a:t>
            </a:r>
            <a:endParaRPr lang="en-US" sz="750" dirty="0"/>
          </a:p>
        </p:txBody>
      </p:sp>
      <p:sp>
        <p:nvSpPr>
          <p:cNvPr id="40" name="Text 38"/>
          <p:cNvSpPr/>
          <p:nvPr/>
        </p:nvSpPr>
        <p:spPr>
          <a:xfrm>
            <a:off x="6181344" y="3191256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Orca · Wiz CNAPP · Cortex Xpanse · Prisma Cloud · CyCognito · RiskRecon · Censys · BitSight · UpGuard · SecurityScorecard · AWS Security Hub · JupiterOne · Armis · Axonius · Lansweeper · ControlUp · Stellar Cyber · Whistic · Netskope · runZero · Dynatrace · SecurityTrails · DomainTools · Silent Push · ip-api</a:t>
            </a:r>
            <a:endParaRPr lang="en-US" sz="650" dirty="0"/>
          </a:p>
        </p:txBody>
      </p:sp>
      <p:sp>
        <p:nvSpPr>
          <p:cNvPr id="41" name="Shape 39"/>
          <p:cNvSpPr/>
          <p:nvPr/>
        </p:nvSpPr>
        <p:spPr>
          <a:xfrm>
            <a:off x="182880" y="3931920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42" name="Shape 40"/>
          <p:cNvSpPr/>
          <p:nvPr/>
        </p:nvSpPr>
        <p:spPr>
          <a:xfrm>
            <a:off x="182880" y="3931920"/>
            <a:ext cx="2862072" cy="54864"/>
          </a:xfrm>
          <a:prstGeom prst="rect">
            <a:avLst/>
          </a:prstGeom>
          <a:solidFill>
            <a:srgbClr val="5B9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274320" y="4023360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5B93D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IDENTITY, EMAIL &amp; INSIDER RISK</a:t>
            </a:r>
            <a:endParaRPr lang="en-US" sz="750" dirty="0"/>
          </a:p>
        </p:txBody>
      </p:sp>
      <p:sp>
        <p:nvSpPr>
          <p:cNvPr id="44" name="Text 42"/>
          <p:cNvSpPr/>
          <p:nvPr/>
        </p:nvSpPr>
        <p:spPr>
          <a:xfrm>
            <a:off x="274320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Okta · Microsoft Entra ID · Ping Identity · Silverfort · Semperis DSP · Mimecast · IRONSCALES · Abnormal Security · Code42 Incydr · DTEX InTERCEPT · Gurucul UEBA · Exabeam · Securonix · GitGuardian</a:t>
            </a:r>
            <a:endParaRPr lang="en-US" sz="650" dirty="0"/>
          </a:p>
        </p:txBody>
      </p:sp>
      <p:sp>
        <p:nvSpPr>
          <p:cNvPr id="45" name="Shape 43"/>
          <p:cNvSpPr/>
          <p:nvPr/>
        </p:nvSpPr>
        <p:spPr>
          <a:xfrm>
            <a:off x="3136392" y="3931920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46" name="Shape 44"/>
          <p:cNvSpPr/>
          <p:nvPr/>
        </p:nvSpPr>
        <p:spPr>
          <a:xfrm>
            <a:off x="3136392" y="3931920"/>
            <a:ext cx="2862072" cy="54864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3227832" y="4023360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SANDBOXES, BAS &amp; VALIDATION</a:t>
            </a:r>
            <a:endParaRPr lang="en-US" sz="750" dirty="0"/>
          </a:p>
        </p:txBody>
      </p:sp>
      <p:sp>
        <p:nvSpPr>
          <p:cNvPr id="48" name="Text 46"/>
          <p:cNvSpPr/>
          <p:nvPr/>
        </p:nvSpPr>
        <p:spPr>
          <a:xfrm>
            <a:off x="3227832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Joe Sandbox · ANY.RUN · Hybrid Analysis · VMRay · Intezer · SafeBreach · AttackIQ · Cymulate · Picus · Pentera · XM Cyber</a:t>
            </a:r>
            <a:endParaRPr lang="en-US" sz="650" dirty="0"/>
          </a:p>
        </p:txBody>
      </p:sp>
      <p:sp>
        <p:nvSpPr>
          <p:cNvPr id="49" name="Shape 47"/>
          <p:cNvSpPr/>
          <p:nvPr/>
        </p:nvSpPr>
        <p:spPr>
          <a:xfrm>
            <a:off x="6089904" y="3931920"/>
            <a:ext cx="2862072" cy="95097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50" name="Shape 48"/>
          <p:cNvSpPr/>
          <p:nvPr/>
        </p:nvSpPr>
        <p:spPr>
          <a:xfrm>
            <a:off x="6089904" y="3931920"/>
            <a:ext cx="2862072" cy="54864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181344" y="4023360"/>
            <a:ext cx="267919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OSINT, AI &amp; FEDERATION</a:t>
            </a:r>
            <a:endParaRPr lang="en-US" sz="750" dirty="0"/>
          </a:p>
        </p:txBody>
      </p:sp>
      <p:sp>
        <p:nvSpPr>
          <p:cNvPr id="52" name="Text 50"/>
          <p:cNvSpPr/>
          <p:nvPr/>
        </p:nvSpPr>
        <p:spPr>
          <a:xfrm>
            <a:off x="6181344" y="4233672"/>
            <a:ext cx="2679192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Dataminr Pulse · Factal · Samdesk · HUMAN Security · Microsoft Copilot · OpenAI ChatGPT · Google Gemini · Grok AI · Discord · GNAT Federation</a:t>
            </a:r>
            <a:endParaRPr lang="en-US" sz="650" dirty="0"/>
          </a:p>
        </p:txBody>
      </p:sp>
      <p:sp>
        <p:nvSpPr>
          <p:cNvPr id="53" name="Text 51"/>
          <p:cNvSpPr/>
          <p:nvPr/>
        </p:nvSpPr>
        <p:spPr>
          <a:xfrm>
            <a:off x="182880" y="4864608"/>
            <a:ext cx="8778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connector: authenticate · health_check · get/list/upsert/delete_object · to_stix() · from_stix()  —  one uniform contract</a:t>
            </a:r>
            <a:endParaRPr lang="en-US" sz="8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ORM — A Universal Data Contract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object from every connector normalises into the same STIX 2.1 types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109728" cy="13898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2120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2120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IOCs with STIX patterns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[domain-name:value = '...']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1280160"/>
            <a:ext cx="109728" cy="13898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5584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ThreatActor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35584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profiles, aliases,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motivation, attribution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989320" y="128016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989320" y="1280160"/>
            <a:ext cx="109728" cy="1389888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90488" y="141732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Vulnerability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6190488" y="178308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CVEs, CVSS scores,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exploited flag, products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Shape 17"/>
          <p:cNvSpPr/>
          <p:nvPr/>
        </p:nvSpPr>
        <p:spPr>
          <a:xfrm>
            <a:off x="320040" y="2834640"/>
            <a:ext cx="109728" cy="1389888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2120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AttackPattern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2120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MITRE ATT&amp;CK TTPs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tactic mapping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315468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3154680" y="2834640"/>
            <a:ext cx="109728" cy="1389888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35584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335584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Malware families,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capabilities, kill-chain</a:t>
            </a:r>
            <a:endParaRPr lang="en-US" sz="950" dirty="0"/>
          </a:p>
        </p:txBody>
      </p:sp>
      <p:sp>
        <p:nvSpPr>
          <p:cNvPr id="26" name="Shape 24"/>
          <p:cNvSpPr/>
          <p:nvPr/>
        </p:nvSpPr>
        <p:spPr>
          <a:xfrm>
            <a:off x="5989320" y="2834640"/>
            <a:ext cx="2651760" cy="13898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5989320" y="2834640"/>
            <a:ext cx="109728" cy="13898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90488" y="2971800"/>
            <a:ext cx="2359152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6190488" y="3337560"/>
            <a:ext cx="2359152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Links: indicates · uses · targets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Bidirectional STIX graph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+ Export Pipelines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2004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 PIPELINE  (pull from platforms)</a:t>
            </a:r>
            <a:endParaRPr lang="en-US" sz="1100" dirty="0"/>
          </a:p>
        </p:txBody>
      </p:sp>
      <p:sp>
        <p:nvSpPr>
          <p:cNvPr id="7" name="Shape 5"/>
          <p:cNvSpPr/>
          <p:nvPr/>
        </p:nvSpPr>
        <p:spPr>
          <a:xfrm>
            <a:off x="3200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3931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3931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reader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· CSV · STIX · Syslog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RSS · Email · Splunk · Elastic…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16916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17647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17647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mapper types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FlatIOC · STIX · MISP · CEF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CSV · NVD CVE · Feedly…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306324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Text 12"/>
          <p:cNvSpPr/>
          <p:nvPr/>
        </p:nvSpPr>
        <p:spPr>
          <a:xfrm>
            <a:off x="313639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313639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ORM objects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dedup · confidence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tag</a:t>
            </a:r>
            <a:endParaRPr lang="en-US" sz="850" dirty="0"/>
          </a:p>
        </p:txBody>
      </p:sp>
      <p:sp>
        <p:nvSpPr>
          <p:cNvPr id="16" name="Shape 14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800600" y="822960"/>
            <a:ext cx="4023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PIPELINE  (push to destinations)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8006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737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ExportFilter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8737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TypeFilter · ConfidenceFilter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TLPFilter · SectorFilter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IOCTypeFilter · LimitFilter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61722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62453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ExportTransform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2453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NetskopeCETransform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STIXBundle · CSV</a:t>
            </a:r>
            <a:endParaRPr lang="en-US" sz="850" dirty="0"/>
          </a:p>
        </p:txBody>
      </p:sp>
      <p:sp>
        <p:nvSpPr>
          <p:cNvPr id="24" name="Shape 22"/>
          <p:cNvSpPr/>
          <p:nvPr/>
        </p:nvSpPr>
        <p:spPr>
          <a:xfrm>
            <a:off x="7543800" y="1234440"/>
            <a:ext cx="1234440" cy="1691640"/>
          </a:xfrm>
          <a:prstGeom prst="rect">
            <a:avLst/>
          </a:prstGeom>
          <a:solidFill>
            <a:srgbClr val="162952"/>
          </a:solidFill>
          <a:ln w="19050">
            <a:solidFill>
              <a:srgbClr val="16295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7616952" y="1325880"/>
            <a:ext cx="108813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7616952" y="1627632"/>
            <a:ext cx="1088136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 (HTTP)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PlatformDelivery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MultiDelivery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320040" y="3063240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 example: ThreatQ → GNAT → Netskope CE (FQDN + URL + SHA256 every 15 min) → Tenant lists → Palo Alto EDLs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320040" y="3520440"/>
            <a:ext cx="8503920" cy="12618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48056" y="3611880"/>
            <a:ext cx="8247888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(ExportPipeline("tq-to-netskope")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.read_from(workspace)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.filter_with(TypeFilter("indicator")).filter_with(ConfidenceFilter(70))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.transform_with(NetskopeCETransform(source_label="ThreatQ", ioc_types=["domain","url","sha256"]))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.deliver_to(PlatformDelivery(netskope_client))).run()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 — One Scheduler, All Jobs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FeedJob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2976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Declarative job type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class for all scheduled work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242316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2423160" y="868680"/>
            <a:ext cx="196596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53288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53288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scheduler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Runs all job types together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26280" y="868680"/>
            <a:ext cx="196596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526280" y="868680"/>
            <a:ext cx="196596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636008" y="996696"/>
            <a:ext cx="17465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ExportJob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636008" y="1289304"/>
            <a:ext cx="174650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EDL / CE export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Extends FeedJob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6629400" y="868680"/>
            <a:ext cx="2240280" cy="12344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6629400" y="868680"/>
            <a:ext cx="224028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739128" y="996696"/>
            <a:ext cx="20208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6739128" y="1289304"/>
            <a:ext cx="2020824" cy="722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Scheduled PDF/DOCX report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delivery hook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0040" y="2212848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job type extends FeedJob and runs in the same FeedScheduler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32004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32004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8463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Drift-corrected timing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48463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Hourly jobs stay hourly even when runs take 5 min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617720" y="2633472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4617720" y="2633472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782312" y="2688336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Overlap protection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782312" y="290779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or queue policy — never two runs of the same job simultaneously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32004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32004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463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ctx.last_success_iso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463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ingestion: readers receive the last success timestamp automatically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4617720" y="3291840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4617720" y="3291840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782312" y="3346704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On-success / on-failure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782312" y="3566160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Callbacks for alerting, logging, and downstream triggers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32004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32004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463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APScheduler / Celery adapters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48463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 jobs to external schedulers for teams with existing infrastructure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4617720" y="3950208"/>
            <a:ext cx="4069080" cy="5486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>
            <a:off x="4617720" y="3950208"/>
            <a:ext cx="73152" cy="5486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782312" y="4005072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to_cron_lines()</a:t>
            </a:r>
            <a:endParaRPr lang="en-US" sz="1000" dirty="0"/>
          </a:p>
        </p:txBody>
      </p:sp>
      <p:sp>
        <p:nvSpPr>
          <p:cNvPr id="45" name="Text 43"/>
          <p:cNvSpPr/>
          <p:nvPr/>
        </p:nvSpPr>
        <p:spPr>
          <a:xfrm>
            <a:off x="4782312" y="4224528"/>
            <a:ext cx="381304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Generate crontab entries for simple server deployments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— Multi-LLM Threat Research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7548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ResearchAgent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SourceReader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Topic-driven: synthesise research on threat actors, CVEs, campaigns.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Feed-driven: monitor sources for new threat content.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Backed by LLMClient (Claude / OpenAI / Grok / Gemini).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15468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154680" y="868680"/>
            <a:ext cx="2651760" cy="47548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26440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ParsingAgent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326440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RecordMapper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326440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structured STIX from any unstructured text.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Flexible: IOCs + TTPs + actors + CVEs — whatever is present.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output capped at confidence ≤ 60, tagged x_source_type=ai_extracted.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5989320" y="868680"/>
            <a:ext cx="2651760" cy="21488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5989320" y="868680"/>
            <a:ext cx="2651760" cy="475488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099048" y="905256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6099048" y="1161288"/>
            <a:ext cx="24323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Unified Multi-LLM Facade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6099048" y="1481328"/>
            <a:ext cx="243230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interface for Claude, OpenAI, Grok (xAI), and Gemini.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Automatic provider fallback on errors or rate limits.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Configured via [claude] / [openai] / [grok] / [gemini] INI sections.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Used by ResearchAgent, ParsingAgent, and ReportDraftingAssistant.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20040" y="3090672"/>
            <a:ext cx="8503920" cy="475488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502920" y="3145536"/>
            <a:ext cx="4572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⛶  WorkflowEngine — Sequential DAG Orchestration (v1.4+)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502920" y="3328416"/>
            <a:ext cx="82296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Pre-built: PhishingTriage · IncidentResponse · Custom DAGs with on_success / on_failure routing · cycle detection · elapsed timing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320040" y="3657600"/>
            <a:ext cx="8503920" cy="713232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02920" y="3721608"/>
            <a:ext cx="4114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AI Trust Model · CopilotReader</a:t>
            </a:r>
            <a:endParaRPr lang="en-US" sz="1000" dirty="0"/>
          </a:p>
        </p:txBody>
      </p:sp>
      <p:sp>
        <p:nvSpPr>
          <p:cNvPr id="25" name="Text 23"/>
          <p:cNvSpPr/>
          <p:nvPr/>
        </p:nvSpPr>
        <p:spPr>
          <a:xfrm>
            <a:off x="502920" y="3931920"/>
            <a:ext cx="8229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confidence_ceiling = 60 (configurable) prevents AI-extracted intel from reaching EDLs without analyst review. All AI objects tagged x_source_type='ai_extracted'. Export pipelines default to ConfidenceFilter(min=70), which excludes AI intel until promoted. CopilotReader queries Microsoft Copilot via DirectLine (SharePoint, mailboxes, Teams) and feeds output directly into ParsingAgent.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Natural Language Query Interface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NLPQueryEngine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8912" y="129844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48640" y="1353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BuiltinParser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548640" y="157276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Rule-based extraction — zero extra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dependencies. Regex + keyword rules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entities, IOC types, time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ranges, and platform filters.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438912" y="2167128"/>
            <a:ext cx="3913632" cy="74980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222199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ClaudeParser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2441448"/>
            <a:ext cx="3694176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 API structured extraction.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same QuerySpec as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builtin backend. Configured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via [nlp] backend = claude.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3044952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[nlp] section in gnat.ini · backend = builtin | claude · CLI: gnat nlq "..."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QuerySpec (internal dataclass)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73168" y="1261872"/>
            <a:ext cx="3931920" cy="17830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1353312"/>
            <a:ext cx="3675888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@dataclass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class QuerySpec: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entities:   list[str]        # APT-128, Cobalt Strike...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ioc_types:  list[str]        # ip, domain, hash...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since: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until:      datetime | None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platforms:  list[str]        # connectors to query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limit:      int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320040" y="3337560"/>
            <a:ext cx="850392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48056" y="3429000"/>
            <a:ext cx="824788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results = client.natural_language_query(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    "Get all IPs associated with Lazarus Group in the last 30 days"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)  # → list[STIXBase] dispatched to all configured connectors</a:t>
            </a:r>
            <a:endParaRPr lang="en-US" sz="8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— Shared Team Knowledge Base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5029200" cy="77724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3268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 WORKSPACES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02920" y="120700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Analyst-owned · Active investigation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828800"/>
            <a:ext cx="5029200" cy="7772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502920" y="189280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STAGING  (_gnat_staging)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502920" y="216712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lib.promote(ws, topic, researcher, note='...')  —  anyone can write, nothing auto-promotes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0040" y="2788920"/>
            <a:ext cx="5029200" cy="7772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02920" y="2852928"/>
            <a:ext cx="46634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 (_gnat_library)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02920" y="31272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Curated · Read-only to analysts · CurationJob every 4h · deduplication · TTL enforcement</a:t>
            </a:r>
            <a:endParaRPr lang="en-US" sz="900" dirty="0"/>
          </a:p>
        </p:txBody>
      </p:sp>
      <p:sp>
        <p:nvSpPr>
          <p:cNvPr id="14" name="Shape 12"/>
          <p:cNvSpPr/>
          <p:nvPr/>
        </p:nvSpPr>
        <p:spPr>
          <a:xfrm>
            <a:off x="2834640" y="165506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5" name="Shape 13"/>
          <p:cNvSpPr/>
          <p:nvPr/>
        </p:nvSpPr>
        <p:spPr>
          <a:xfrm>
            <a:off x="2834640" y="2615184"/>
            <a:ext cx="0" cy="164592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16" name="Text 14"/>
          <p:cNvSpPr/>
          <p:nvPr/>
        </p:nvSpPr>
        <p:spPr>
          <a:xfrm>
            <a:off x="5577840" y="841248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TTL by Category</a:t>
            </a:r>
            <a:endParaRPr lang="en-US" sz="11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577840" y="1170432"/>
          <a:ext cx="3246120" cy="2011680"/>
        </p:xfrm>
        <a:graphic>
          <a:graphicData uri="http://schemas.openxmlformats.org/drawingml/2006/table">
            <a:tbl>
              <a:tblPr/>
              <a:tblGrid>
                <a:gridCol w="1005840"/>
                <a:gridCol w="868680"/>
                <a:gridCol w="1371600"/>
              </a:tblGrid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Category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Default TTL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Rationale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891B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indicator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24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IOCs rotate quickly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vulnerability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 hours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Exploitability changes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campaign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Evolves over weeks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threat_actor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30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Slow-changing TTPs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  <a:tr h="3352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other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 days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E8EFF8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Conservative fallback</a:t>
                      </a:r>
                      <a:endParaRPr lang="en-US" sz="8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1E4D8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952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320040" y="3913632"/>
            <a:ext cx="8503920" cy="658368"/>
          </a:xfrm>
          <a:prstGeom prst="rect">
            <a:avLst/>
          </a:prstGeom>
          <a:solidFill>
            <a:srgbClr val="162952"/>
          </a:solidFill>
          <a:ln/>
        </p:spPr>
        <p:txBody>
          <a:bodyPr wrap="square" lIns="1016" tIns="1016" rIns="1016" bIns="1016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checks lib.is_fresh("APT29") before running ResearchAgent. After review, promotes to staging with an analyst note. CurationJob deduplicates and promotes to library.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Report Generation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68680"/>
            <a:ext cx="2651760" cy="41148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Intel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42976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2588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06:00 daily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42976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32588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42976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32588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SOC analysts / shift handoff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42976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32588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 · Markdown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315468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154680" y="868680"/>
            <a:ext cx="2651760" cy="41148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6440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Trends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326440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416052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326440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22" name="Text 20"/>
          <p:cNvSpPr/>
          <p:nvPr/>
        </p:nvSpPr>
        <p:spPr>
          <a:xfrm>
            <a:off x="416052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Assisted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326440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16052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leads / analysts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326440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16052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HTML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5989320" y="868680"/>
            <a:ext cx="2651760" cy="246888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8" name="Shape 26"/>
          <p:cNvSpPr/>
          <p:nvPr/>
        </p:nvSpPr>
        <p:spPr>
          <a:xfrm>
            <a:off x="5989320" y="868680"/>
            <a:ext cx="2651760" cy="41148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099048" y="905256"/>
            <a:ext cx="243230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Yearly Intel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099048" y="1389888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Schedule: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995160" y="1389888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Annual / manual</a:t>
            </a:r>
            <a:endParaRPr lang="en-US" sz="900" dirty="0"/>
          </a:p>
        </p:txBody>
      </p:sp>
      <p:sp>
        <p:nvSpPr>
          <p:cNvPr id="32" name="Text 30"/>
          <p:cNvSpPr/>
          <p:nvPr/>
        </p:nvSpPr>
        <p:spPr>
          <a:xfrm>
            <a:off x="6099048" y="1810512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Mode: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995160" y="1810512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6099048" y="2231136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Audience:</a:t>
            </a:r>
            <a:endParaRPr lang="en-US" sz="900" dirty="0"/>
          </a:p>
        </p:txBody>
      </p:sp>
      <p:sp>
        <p:nvSpPr>
          <p:cNvPr id="35" name="Text 33"/>
          <p:cNvSpPr/>
          <p:nvPr/>
        </p:nvSpPr>
        <p:spPr>
          <a:xfrm>
            <a:off x="6995160" y="2231136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Management / compliance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6099048" y="2651760"/>
            <a:ext cx="86868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Formats: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6995160" y="2651760"/>
            <a:ext cx="1536192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 · DOCX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320040" y="345643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Generation pipeline: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32004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DataAggregator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 AI)</a:t>
            </a:r>
            <a:endParaRPr lang="en-US" sz="950" dirty="0"/>
          </a:p>
        </p:txBody>
      </p:sp>
      <p:sp>
        <p:nvSpPr>
          <p:cNvPr id="41" name="Shape 39"/>
          <p:cNvSpPr/>
          <p:nvPr/>
        </p:nvSpPr>
        <p:spPr>
          <a:xfrm>
            <a:off x="246888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254203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ReportSynthesizer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(one call/section)</a:t>
            </a:r>
            <a:endParaRPr lang="en-US" sz="950" dirty="0"/>
          </a:p>
        </p:txBody>
      </p:sp>
      <p:sp>
        <p:nvSpPr>
          <p:cNvPr id="43" name="Shape 41"/>
          <p:cNvSpPr/>
          <p:nvPr/>
        </p:nvSpPr>
        <p:spPr>
          <a:xfrm>
            <a:off x="4617720" y="3794760"/>
            <a:ext cx="1874520" cy="7315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69087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Renderers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MD/HTML/PDF/DOCX</a:t>
            </a:r>
            <a:endParaRPr lang="en-US" sz="950" dirty="0"/>
          </a:p>
        </p:txBody>
      </p:sp>
      <p:sp>
        <p:nvSpPr>
          <p:cNvPr id="45" name="Shape 43"/>
          <p:cNvSpPr/>
          <p:nvPr/>
        </p:nvSpPr>
        <p:spPr>
          <a:xfrm>
            <a:off x="6766560" y="3794760"/>
            <a:ext cx="1874520" cy="7315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6839712" y="3840480"/>
            <a:ext cx="1728216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Delivery</a:t>
            </a:r>
            <a:endParaRPr lang="en-US" sz="950" dirty="0"/>
          </a:p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+ SharePoint</a:t>
            </a:r>
            <a:endParaRPr lang="en-US" sz="950" dirty="0"/>
          </a:p>
        </p:txBody>
      </p:sp>
      <p:sp>
        <p:nvSpPr>
          <p:cNvPr id="47" name="Shape 45"/>
          <p:cNvSpPr/>
          <p:nvPr/>
        </p:nvSpPr>
        <p:spPr>
          <a:xfrm>
            <a:off x="221284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8" name="Shape 46"/>
          <p:cNvSpPr/>
          <p:nvPr/>
        </p:nvSpPr>
        <p:spPr>
          <a:xfrm>
            <a:off x="436168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  <p:sp>
        <p:nvSpPr>
          <p:cNvPr id="49" name="Shape 47"/>
          <p:cNvSpPr/>
          <p:nvPr/>
        </p:nvSpPr>
        <p:spPr>
          <a:xfrm>
            <a:off x="6510528" y="4160520"/>
            <a:ext cx="237744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  <a:tailEnd type="triangle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 Targeting Intelligence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— canonical cross-platform sector field, normalized from all connectors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80160"/>
            <a:ext cx="25603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97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any (default)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97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 objects tagged with at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least one listed sector.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Untagged objects also pass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(non-strict mode).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30632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063240" y="1280160"/>
            <a:ext cx="25603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1729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1729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 all listed sectors to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 present on the object.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Strict: only tagged objects.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5806440" y="1280160"/>
            <a:ext cx="256032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5806440" y="1280160"/>
            <a:ext cx="256032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16168" y="1316736"/>
            <a:ext cx="2340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strict=True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5916168" y="1737360"/>
            <a:ext cx="234086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Exclude untagged objects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entirely. Only explicitly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tagged objects are included.</a:t>
            </a:r>
            <a:endParaRPr lang="en-US" sz="950" dirty="0"/>
          </a:p>
        </p:txBody>
      </p:sp>
      <p:sp>
        <p:nvSpPr>
          <p:cNvPr id="18" name="Shape 16"/>
          <p:cNvSpPr/>
          <p:nvPr/>
        </p:nvSpPr>
        <p:spPr>
          <a:xfrm>
            <a:off x="320040" y="3246120"/>
            <a:ext cx="8503920" cy="15361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48056" y="3337560"/>
            <a:ext cx="8247888" cy="1353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[sector_aliases]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healthcare = Healthcare, Health, Medical, H-ISAC, Hospitals and Health Centers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financial  = Financial Services, Finance, Banking, FS-ISAC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energy     = Energy, Electric, Oil and Gas, E-ISAC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SectorFilter expands aliases so 'health' matches 'Healthcare' from ThreatQ and 'Health' from RF</a:t>
            </a:r>
            <a:endParaRPr lang="en-US" sz="8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 Sidecar — Solr Full-Text Search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STIX object indexed in Solr 9.x — search across all connectors simultaneously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27432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274320" y="132588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36576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GNATIndexer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36576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gnat/search/index.py</a:t>
            </a:r>
            <a:endParaRPr lang="en-US" sz="850" dirty="0"/>
          </a:p>
        </p:txBody>
      </p:sp>
      <p:sp>
        <p:nvSpPr>
          <p:cNvPr id="10" name="Text 8"/>
          <p:cNvSpPr/>
          <p:nvPr/>
        </p:nvSpPr>
        <p:spPr>
          <a:xfrm>
            <a:off x="36576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Add/update/delete Solr documents. Batch indexing with configurable batch_size. Field-mapped from STIX objects.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15468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154680" y="132588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24612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324612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gnat/search/mixin.py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324612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Drop-in connector mixin. Auto-indexes on upsert_object() calls. Zero code change to existing connectors.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6035040" y="132588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6035040" y="132588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126480" y="146304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ORM Integration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6126480" y="173736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gnat/search/orm_with_mixin.py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26480" y="196596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SearchMixin-enhanced STIX objects. Transparent to existing ORM code.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27432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274320" y="3108960"/>
            <a:ext cx="2743200" cy="7315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Patch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36576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gnat/search/pipeline_patch.py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36576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Patches IngestPipeline to route records through Solr indexer post-map.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315468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154680" y="3108960"/>
            <a:ext cx="2743200" cy="73152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24612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Patch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324612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gnat/search/library_patch.py</a:t>
            </a:r>
            <a:endParaRPr lang="en-US" sz="850" dirty="0"/>
          </a:p>
        </p:txBody>
      </p:sp>
      <p:sp>
        <p:nvSpPr>
          <p:cNvPr id="30" name="Text 28"/>
          <p:cNvSpPr/>
          <p:nvPr/>
        </p:nvSpPr>
        <p:spPr>
          <a:xfrm>
            <a:off x="324612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ResearchLibrary search-backed lookups. Cross-source correlation at query time.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6035040" y="3108960"/>
            <a:ext cx="2743200" cy="16002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6035040" y="3108960"/>
            <a:ext cx="274320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26480" y="3246120"/>
            <a:ext cx="2560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Schema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126480" y="3520440"/>
            <a:ext cx="25603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solr_schema_gnat.xml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6126480" y="3749040"/>
            <a:ext cx="25603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9.x schema for GNAT fields: type, value, confidence, x_target_sectors, tlp, source, timestamp.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74320" y="4663440"/>
            <a:ext cx="8595360" cy="3474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65760" y="4700016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via [search] in gnat.ini  ·  solr_url = http://localhost:8983/solr/gnat  ·  enabled = true  ·  Grafana dashboards via gnat viz serve --with-solr</a:t>
            </a:r>
            <a:endParaRPr lang="en-US" sz="8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&amp; STIX Pattern Validator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— Full Read + Write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GNAT workspace is exposed as a TAXII 2.1 collection. Full protocol compliance including write endpoints.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691640"/>
            <a:ext cx="3941064" cy="1874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  —  Discovery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/taxii2/roots/gnat/collections/  —  List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  —  Paginated bundle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 /taxii2/.../objects/  —  Ingest bundle (WRITE_TAXII permission)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DELETE /taxii2/.../objects/{id}  —  Soft-delete by STIX ID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/taxii2/.../manifest/  —  Object manifest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  /taxii2/.../objects/{oid}/versions/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429768" y="3657600"/>
            <a:ext cx="3941064" cy="43891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749040"/>
            <a:ext cx="368503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--port 8090 --api-key s3cr3t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taxii --title "Acme TAXII" --port 9000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16052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gnat[serve]  ·  56 unit tests  ·  TLP:AMBER + RED collections allow write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</a:t>
            </a:r>
            <a:endParaRPr lang="en-US" sz="13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Two-tier validator. Tier 1: pure-Python recursive descent (zero deps). Tier 2: stix2-patterns ANTLR grammar.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773168" y="1773936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4901184" y="1865376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 import validate_pattern, PatternValidationError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validate_pattern("[ipv4-addr:value = '1.2.3.4']")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assert result.valid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ORM opt-in validation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Indicator(pattern="[domain-name:value = 'evil.com']", validate=True)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4773168" y="3163824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20" name="Shape 18"/>
          <p:cNvSpPr/>
          <p:nvPr/>
        </p:nvSpPr>
        <p:spPr>
          <a:xfrm>
            <a:off x="47731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9011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pattern "[ipv4-addr:value = '1.2.3.4']"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validate bundle indicators.json --strict</a:t>
            </a:r>
            <a:endParaRPr lang="en-US" sz="850" dirty="0"/>
          </a:p>
        </p:txBody>
      </p:sp>
      <p:sp>
        <p:nvSpPr>
          <p:cNvPr id="22" name="Text 20"/>
          <p:cNvSpPr/>
          <p:nvPr/>
        </p:nvSpPr>
        <p:spPr>
          <a:xfrm>
            <a:off x="47731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Requires gnat[stix-validate] for tier 2  ·  87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Capability Reflection &amp; Health Monitoring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Capability Reflection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 any connector's methods at runtime. Safe guarded dispatch prevents unintended writes.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64792"/>
            <a:ext cx="3941064" cy="13258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57784" y="1856232"/>
            <a:ext cx="368503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caps = client.capabilities()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[{name, signature, doc, type: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'auth|read|write|helper',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  platform_specific: bool}, ...]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Guarded dispatch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client.call("list_objects", stix_type="indicator")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client.call("upsert", obj, allow_write=True)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429768" y="315468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429768" y="3364992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57784" y="3456432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capabilities --platform threatq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client call --platform splunk --method list_objects</a:t>
            </a:r>
            <a:endParaRPr lang="en-US" sz="850" dirty="0"/>
          </a:p>
        </p:txBody>
      </p:sp>
      <p:sp>
        <p:nvSpPr>
          <p:cNvPr id="14" name="Text 12"/>
          <p:cNvSpPr/>
          <p:nvPr/>
        </p:nvSpPr>
        <p:spPr>
          <a:xfrm>
            <a:off x="429768" y="40873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 unit tests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773168" y="1298448"/>
            <a:ext cx="3941064" cy="2240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ConnectorHealthJob — FeedJob subclass, periodic health checks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Calls health_check() on all configured connectors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SchemaSnapshot: samples list_objects(limit=1) and stores field fingerprint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DriftReport: alerts when changed fields exceed drift_threshold (default 20%)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Slack webhook or email alerts on drift detection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 health check  /  gnat health baseline  CLI subcommands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773168" y="3611880"/>
            <a:ext cx="3941064" cy="6583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901184" y="3703320"/>
            <a:ext cx="3685032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[health_monitor]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enabled          = true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interval_minutes = 60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alert_webhook    = https://hooks.slack.com/...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drift_threshold  = 0.2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4773168" y="4334256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&amp; Web Dashboard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 over SSH — no browser, no display server required. Modern TUI built on Textual.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73936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48640" y="182880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F1  Query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1691640" y="182880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search bar + scrollable STIX results table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176272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" y="2231136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F2  Library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1691640" y="2231136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browser · promote (Ctrl+P) / reject (Ctrl+X)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578608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48640" y="2633472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F3  Scheduler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1691640" y="2633472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job status · manual trigger with Ctrl+T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2980944"/>
            <a:ext cx="3913632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48640" y="3035808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F4  Reports</a:t>
            </a:r>
            <a:endParaRPr lang="en-US" sz="900" dirty="0"/>
          </a:p>
        </p:txBody>
      </p:sp>
      <p:sp>
        <p:nvSpPr>
          <p:cNvPr id="20" name="Text 18"/>
          <p:cNvSpPr/>
          <p:nvPr/>
        </p:nvSpPr>
        <p:spPr>
          <a:xfrm>
            <a:off x="1691640" y="3035808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PDF/HTML/DOCX browser · open in browser (Ctrl+O)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383280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48640" y="3438144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F5  Investigations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1691640" y="3438144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 browser · status transitions · Ctrl+N new · Ctrl+R refresh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29768" y="3785616"/>
            <a:ext cx="3913632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548640" y="384048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F6  Review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1691640" y="3840480"/>
            <a:ext cx="25603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· Approve/Reject/Modify with confidence override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429768" y="4261104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57784" y="4352544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          # launch dashboard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tui review    # start on review screen</a:t>
            </a:r>
            <a:endParaRPr lang="en-US" sz="850" dirty="0"/>
          </a:p>
        </p:txBody>
      </p:sp>
      <p:sp>
        <p:nvSpPr>
          <p:cNvPr id="29" name="Text 27"/>
          <p:cNvSpPr/>
          <p:nvPr/>
        </p:nvSpPr>
        <p:spPr>
          <a:xfrm>
            <a:off x="429768" y="4663440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"gnat[tui]"  ·  F1–F6 screens  ·  38 unit tests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1" name="Shape 29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(FastAPI)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Browser-based dashboard for server deployments. X-Api-Key auth, rate-limited 100 req/min.</a:t>
            </a:r>
            <a:endParaRPr lang="en-US" sz="900" dirty="0"/>
          </a:p>
        </p:txBody>
      </p:sp>
      <p:sp>
        <p:nvSpPr>
          <p:cNvPr id="34" name="Text 32"/>
          <p:cNvSpPr/>
          <p:nvPr/>
        </p:nvSpPr>
        <p:spPr>
          <a:xfrm>
            <a:off x="4773168" y="177393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/api/library</a:t>
            </a:r>
            <a:endParaRPr lang="en-US" sz="850" dirty="0"/>
          </a:p>
        </p:txBody>
      </p:sp>
      <p:sp>
        <p:nvSpPr>
          <p:cNvPr id="35" name="Text 33"/>
          <p:cNvSpPr/>
          <p:nvPr/>
        </p:nvSpPr>
        <p:spPr>
          <a:xfrm>
            <a:off x="4773168" y="197510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 Library search, promote, reject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773168" y="230428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/api/reports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773168" y="2505456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reports; serve HTML inline</a:t>
            </a:r>
            <a:endParaRPr lang="en-US" sz="850" dirty="0"/>
          </a:p>
        </p:txBody>
      </p:sp>
      <p:sp>
        <p:nvSpPr>
          <p:cNvPr id="38" name="Text 36"/>
          <p:cNvSpPr/>
          <p:nvPr/>
        </p:nvSpPr>
        <p:spPr>
          <a:xfrm>
            <a:off x="4773168" y="283464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GET/POST /api/scheduler/jobs</a:t>
            </a:r>
            <a:endParaRPr lang="en-US" sz="850" dirty="0"/>
          </a:p>
        </p:txBody>
      </p:sp>
      <p:sp>
        <p:nvSpPr>
          <p:cNvPr id="39" name="Text 37"/>
          <p:cNvSpPr/>
          <p:nvPr/>
        </p:nvSpPr>
        <p:spPr>
          <a:xfrm>
            <a:off x="4773168" y="3035808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Job status + manual trigger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773168" y="336499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/health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4773168" y="3566160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Unauthenticated liveness check</a:t>
            </a:r>
            <a:endParaRPr lang="en-US" sz="850" dirty="0"/>
          </a:p>
        </p:txBody>
      </p:sp>
      <p:sp>
        <p:nvSpPr>
          <p:cNvPr id="42" name="Text 40"/>
          <p:cNvSpPr/>
          <p:nvPr/>
        </p:nvSpPr>
        <p:spPr>
          <a:xfrm>
            <a:off x="4773168" y="3895344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/</a:t>
            </a:r>
            <a:endParaRPr lang="en-US" sz="850" dirty="0"/>
          </a:p>
        </p:txBody>
      </p:sp>
      <p:sp>
        <p:nvSpPr>
          <p:cNvPr id="43" name="Text 41"/>
          <p:cNvSpPr/>
          <p:nvPr/>
        </p:nvSpPr>
        <p:spPr>
          <a:xfrm>
            <a:off x="4773168" y="4096512"/>
            <a:ext cx="391363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Single-page dashboard (dark, no build step)</a:t>
            </a:r>
            <a:endParaRPr lang="en-US" sz="850" dirty="0"/>
          </a:p>
        </p:txBody>
      </p:sp>
      <p:sp>
        <p:nvSpPr>
          <p:cNvPr id="44" name="Shape 42"/>
          <p:cNvSpPr/>
          <p:nvPr/>
        </p:nvSpPr>
        <p:spPr>
          <a:xfrm>
            <a:off x="4773168" y="4434840"/>
            <a:ext cx="3941064" cy="3200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4901184" y="4526280"/>
            <a:ext cx="3685032" cy="137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serve --port 8088 --api-key $(openssl rand -hex 16)</a:t>
            </a:r>
            <a:endParaRPr lang="en-US" sz="850" dirty="0"/>
          </a:p>
        </p:txBody>
      </p:sp>
      <p:sp>
        <p:nvSpPr>
          <p:cNvPr id="46" name="Text 44"/>
          <p:cNvSpPr/>
          <p:nvPr/>
        </p:nvSpPr>
        <p:spPr>
          <a:xfrm>
            <a:off x="4773168" y="4809744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"gnat[serve]"  ·  Bind 127.0.0.1 by default  ·  54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 &amp; Contribution Pipeline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Introspects any registered connector via capabilities() and generates a valid XSOAR 6 content pack zip.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429768" y="1773936"/>
            <a:ext cx="3941064" cy="1965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pack_metadata.json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Integrations/&lt;Name&gt;/&lt;Name&gt;.yml  —  XSOAR command defs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Integrations/&lt;Name&gt;/&lt;Name&gt;.py  —  Python bridge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ReleaseNotes/&lt;ver&gt;.md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methods flagged dangerous: true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Auth type auto-detected from constructor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29768" y="3611880"/>
            <a:ext cx="3941064" cy="10058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57784" y="3703320"/>
            <a:ext cx="3685032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xsoar     --connector threatq --output ./packs/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openapi   --spec api.yaml --name myplatform --ai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tests     --connector crowdstrike --overwrite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register  --scan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codegen config-docs --dry-run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429768" y="4681728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xsoar: 40 tests  ·  openapi + tests + register + config-docs: new in v1.5  ·  --ai: Claude-powered implementations</a:t>
            </a:r>
            <a:endParaRPr lang="en-US" sz="750" dirty="0"/>
          </a:p>
        </p:txBody>
      </p:sp>
      <p:sp>
        <p:nvSpPr>
          <p:cNvPr id="13" name="Shape 11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a connector as a draft GitHub PR through a 7-step compliance gate.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4773168" y="1773936"/>
            <a:ext cx="3941064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Enabled guard (opt-in only)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Connector exists in CLIENT_REGISTRY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ComplianceMatrix: all 8 methods + test file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Full test suite — aborts on failure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Branch: contribute/{platform}-{timestamp}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6. Commit + push to fork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7. Draft PR via GitHub REST API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4773168" y="3858768"/>
            <a:ext cx="3941064" cy="54864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901184" y="3950208"/>
            <a:ext cx="368503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--message "Add..."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contribute --connector myplatform --dry-run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773168" y="4471416"/>
            <a:ext cx="394106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draft_pr = true is hardcoded — always requires human review  ·  47 unit tests</a:t>
            </a:r>
            <a:endParaRPr lang="en-US" sz="8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&amp; Containerization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3492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3492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841248"/>
            <a:ext cx="5074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docker-compose.yml  —  Production Stack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261872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261872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40080" y="1316736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40080" y="1536192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57200" y="1920240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57200" y="1920240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640080" y="1975104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  :8080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40080" y="2194560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server: serves indicator files to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firewalls. Survives scheduler restart.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57200" y="2578608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6295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57200" y="2578608"/>
            <a:ext cx="73152" cy="56692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2633472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gnat-monitor  :8090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40080" y="2852928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800" dirty="0"/>
          </a:p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check.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457200" y="3236976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>
            <a:off x="457200" y="3236976"/>
            <a:ext cx="73152" cy="56692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640080" y="3291840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solr (profile: search)  :8983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640080" y="3511296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Solr search index for GNAT sidecar.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457200" y="3895344"/>
            <a:ext cx="5074920" cy="566928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457200" y="3895344"/>
            <a:ext cx="7315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640080" y="3950208"/>
            <a:ext cx="47091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grafana (profile: monitoring)  :3000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40080" y="4169664"/>
            <a:ext cx="4709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Grafana dashboards for Solr + GNAT data.</a:t>
            </a:r>
            <a:endParaRPr lang="en-US" sz="800" dirty="0"/>
          </a:p>
        </p:txBody>
      </p:sp>
      <p:sp>
        <p:nvSpPr>
          <p:cNvPr id="28" name="Text 26"/>
          <p:cNvSpPr/>
          <p:nvPr/>
        </p:nvSpPr>
        <p:spPr>
          <a:xfrm>
            <a:off x="457200" y="4572000"/>
            <a:ext cx="50749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Named volume: gnat-workspace  ·  .env.example → .env  ·  make docker-build / docker-up / docker-logs</a:t>
            </a:r>
            <a:endParaRPr lang="en-US" sz="800" dirty="0"/>
          </a:p>
        </p:txBody>
      </p:sp>
      <p:sp>
        <p:nvSpPr>
          <p:cNvPr id="29" name="Shape 27"/>
          <p:cNvSpPr/>
          <p:nvPr/>
        </p:nvSpPr>
        <p:spPr>
          <a:xfrm>
            <a:off x="5806440" y="804672"/>
            <a:ext cx="3017520" cy="18745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5806440" y="804672"/>
            <a:ext cx="30175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5916168" y="84124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Code DevContainer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5916168" y="1225296"/>
            <a:ext cx="2798064" cy="12618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.devcontainer/devcontainer.json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Rust toolchain + Docker-in-Docker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extension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Codespaces ready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5806440" y="2816352"/>
            <a:ext cx="3017520" cy="199339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4" name="Shape 32"/>
          <p:cNvSpPr/>
          <p:nvPr/>
        </p:nvSpPr>
        <p:spPr>
          <a:xfrm>
            <a:off x="5806440" y="2816352"/>
            <a:ext cx="301752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5916168" y="2852928"/>
            <a:ext cx="2798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Test Harness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916168" y="3236976"/>
            <a:ext cx="2798064" cy="14264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Elasticsearch 8.13.4 + Solr 9.6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Non-conflicting ports (19200, 18983)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@pytest.mark.docker marker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TAXII + 14 Elastic + 14 Solr tests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test-docker  (up → run → down)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Transparent namespace prefixing — no schema migration — works with SQLite and FlatFile stores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5486400" cy="23317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48056" y="1325880"/>
            <a:ext cx="5230368" cy="2148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gnat.context import WorkspaceManager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manager = WorkspaceManager.default()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acme = manager.for_tenant("acme")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   = acme.create("apt28-investigation")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"acme::apt28-investigation"</a:t>
            </a:r>
            <a:endParaRPr lang="en-US" sz="850" dirty="0"/>
          </a:p>
          <a:p>
            <a:pPr indent="0" marL="0">
              <a:buNone/>
            </a:pP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beta = manager.for_tenant("beta")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ws2  = beta.create("apt28-investigation")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stored as: "beta::apt28-investigation"  (no collision)</a:t>
            </a:r>
            <a:endParaRPr lang="en-US" sz="850" dirty="0"/>
          </a:p>
        </p:txBody>
      </p:sp>
      <p:sp>
        <p:nvSpPr>
          <p:cNvPr id="8" name="Shape 6"/>
          <p:cNvSpPr/>
          <p:nvPr/>
        </p:nvSpPr>
        <p:spPr>
          <a:xfrm>
            <a:off x="5989320" y="1234440"/>
            <a:ext cx="2834640" cy="23317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5989320" y="1234440"/>
            <a:ext cx="28346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6099048" y="1271016"/>
            <a:ext cx="261518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TenantRegistry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6099048" y="1664208"/>
            <a:ext cx="2615184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Existing workspaces → "default" tenant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per-tenant config_path in INI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list() scoped to tenant namespace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WorkspaceManager.for_tenant(id)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63 unit tests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65760" y="3657600"/>
            <a:ext cx="457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320040" y="3886200"/>
            <a:ext cx="8503920" cy="84124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48056" y="3977640"/>
            <a:ext cx="824788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list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create acme --display-name "Acme Corp" --config /etc/gnat/acme.ini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workspaces acme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tenant delete acme --yes</a:t>
            </a:r>
            <a:endParaRPr lang="en-US" sz="85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Deployment: Single Azure VM, Three Services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04672"/>
            <a:ext cx="5577840" cy="40050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62952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320040" y="804672"/>
            <a:ext cx="5577840" cy="347472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841248"/>
            <a:ext cx="53035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VM B2s  (2 vCPU · 4 GB · ~$50/month)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457200" y="128016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280160"/>
            <a:ext cx="91440" cy="82296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58368" y="135331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gnat-scheduler.service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658368" y="162763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FeedScheduler: ingest, export, AI research,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curation, and report jobs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57200" y="228600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E4D8C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57200" y="2286000"/>
            <a:ext cx="91440" cy="82296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58368" y="235915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gnat-edl.service  :8080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658368" y="263347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EDLServer: serves indicator files to firewalls.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Independent — survives scheduler restart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457200" y="3291840"/>
            <a:ext cx="5212080" cy="822960"/>
          </a:xfrm>
          <a:prstGeom prst="rect">
            <a:avLst/>
          </a:prstGeom>
          <a:solidFill>
            <a:srgbClr val="1E293B"/>
          </a:solidFill>
          <a:ln w="12700">
            <a:solidFill>
              <a:srgbClr val="162952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457200" y="3291840"/>
            <a:ext cx="91440" cy="82296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58368" y="3364992"/>
            <a:ext cx="473659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gnat-health.service  :8090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58368" y="3639312"/>
            <a:ext cx="4736592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endpoint: GET /status → JSON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Azure Monitor / Grafana ping check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4370832"/>
            <a:ext cx="5212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Storage: ~/.gnat/config.ini  ·  workspaces/  ·  /var/reports/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6035040" y="804672"/>
            <a:ext cx="2788920" cy="4005072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035040" y="804672"/>
            <a:ext cx="278892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172200" y="841248"/>
            <a:ext cx="2514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Scale-out path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6172200" y="1298448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100+ feeds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172200" y="1536192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jobs → Azure Container Instances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6172200" y="1956816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6172200" y="2103120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SLA &lt; 5 min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172200" y="234086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server → dedicated B1s VM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172200" y="2761488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6172200" y="2907792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analysts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172200" y="3145536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FlatFileStore → PostgreSQL (1 config change)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6172200" y="3566160"/>
            <a:ext cx="2514600" cy="0"/>
          </a:xfrm>
          <a:prstGeom prst="line">
            <a:avLst/>
          </a:prstGeom>
          <a:noFill/>
          <a:ln w="6350">
            <a:solidFill>
              <a:srgbClr val="1E4D8C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172200" y="3712464"/>
            <a:ext cx="25146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172200" y="3950208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workspace namespace per tenant, shared codebase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&amp; Plugin System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Alembic 1.13 schema management. URL resolved: GNAT_DB_URL → [database] INI → default.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55648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105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0001_init_all_tables</a:t>
            </a:r>
            <a:endParaRPr lang="en-US" sz="900" dirty="0"/>
          </a:p>
        </p:txBody>
      </p:sp>
      <p:sp>
        <p:nvSpPr>
          <p:cNvPr id="11" name="Text 9"/>
          <p:cNvSpPr/>
          <p:nvPr/>
        </p:nvSpPr>
        <p:spPr>
          <a:xfrm>
            <a:off x="539496" y="2029968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investigations, reports, workspaces,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workspace_objects, enrichment_log, context_globals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414016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46888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0002_add_lineage_events</a:t>
            </a:r>
            <a:endParaRPr lang="en-US" sz="900" dirty="0"/>
          </a:p>
        </p:txBody>
      </p:sp>
      <p:sp>
        <p:nvSpPr>
          <p:cNvPr id="14" name="Text 12"/>
          <p:cNvSpPr/>
          <p:nvPr/>
        </p:nvSpPr>
        <p:spPr>
          <a:xfrm>
            <a:off x="539496" y="2688336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lineage_events table · composite index on (object_id, timestamp)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3072384"/>
            <a:ext cx="3913632" cy="56692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12724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0003_add_metrics_events</a:t>
            </a:r>
            <a:endParaRPr lang="en-US" sz="900" dirty="0"/>
          </a:p>
        </p:txBody>
      </p:sp>
      <p:sp>
        <p:nvSpPr>
          <p:cNvPr id="17" name="Text 15"/>
          <p:cNvSpPr/>
          <p:nvPr/>
        </p:nvSpPr>
        <p:spPr>
          <a:xfrm>
            <a:off x="539496" y="3346704"/>
            <a:ext cx="36941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metrics_events table · index on (metric_type, timestamp)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749040"/>
            <a:ext cx="3941064" cy="5029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7784" y="3840480"/>
            <a:ext cx="3685032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upgrade head    # apply all migrations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current         # show current revision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gnat-db history         # show migration history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429768" y="4315968"/>
            <a:ext cx="394106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 install "gnat[migrations]"  ·  get_combined_metadata() for Alembic auto-detect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(gnat.plugins)</a:t>
            </a:r>
            <a:endParaRPr lang="en-US" sz="1300" dirty="0"/>
          </a:p>
        </p:txBody>
      </p:sp>
      <p:sp>
        <p:nvSpPr>
          <p:cNvPr id="24" name="Text 22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Extensible plugin architecture with entry_points discovery, filesystem scanning, and HookBus pub/sub.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4773168" y="1792224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GNATPlugin ABC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4882896" y="2029968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 / version / capabilities / register(registry)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4773168" y="2359152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8828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PluginCapability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4882896" y="2596896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· READER · MAPPER · AGENT · REPORTER · HOOK</a:t>
            </a:r>
            <a:endParaRPr lang="en-US" sz="850" dirty="0"/>
          </a:p>
        </p:txBody>
      </p:sp>
      <p:sp>
        <p:nvSpPr>
          <p:cNvPr id="31" name="Shape 29"/>
          <p:cNvSpPr/>
          <p:nvPr/>
        </p:nvSpPr>
        <p:spPr>
          <a:xfrm>
            <a:off x="4773168" y="2926080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882896" y="296265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HookBus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4882896" y="3163824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pub/sub · 14 built-in KNOWN_EVENTS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async handlers · exceptions never propagate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4773168" y="3493008"/>
            <a:ext cx="3913632" cy="493776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882896" y="352958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PluginRegistry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4882896" y="3730752"/>
            <a:ext cx="369417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load/unload/get/list · entry_points discovery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GNAT_PLUGIN_DIRS env var · wraps existing registries</a:t>
            </a:r>
            <a:endParaRPr lang="en-US" sz="850" dirty="0"/>
          </a:p>
        </p:txBody>
      </p:sp>
      <p:sp>
        <p:nvSpPr>
          <p:cNvPr id="37" name="Shape 35"/>
          <p:cNvSpPr/>
          <p:nvPr/>
        </p:nvSpPr>
        <p:spPr>
          <a:xfrm>
            <a:off x="4773168" y="4023360"/>
            <a:ext cx="3941064" cy="41148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901184" y="4114800"/>
            <a:ext cx="368503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[plugins]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dirs = /opt/gnat/plugins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# or declare in pyproject.toml entry-points: gnat.plugins</a:t>
            </a:r>
            <a:endParaRPr lang="en-US" sz="85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(RBAC) &amp; STIX Object Validator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— RBAC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Role-based access control orthogonal to TLP labels. Static permission matrix. FastAPI-native Depends.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828800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865376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VIEWER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1572768" y="1883664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READ_OBJECTS, READ_REPORTS, QUERY_NLP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429768" y="23408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77440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1572768" y="2395728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WRITE_OBJECTS, ENRICH, PROMOTE_INTEL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429768" y="28529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2889504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OPERATOR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1572768" y="2907792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MANAGE_SCHEDULES, WRITE_TAXII, EXPORT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429768" y="33649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401568"/>
            <a:ext cx="1005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572768" y="3419856"/>
            <a:ext cx="2688336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MANAGE_KEYS, MANAGE_TENANTS (all perms)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429768" y="3913632"/>
            <a:ext cx="3913632" cy="384048"/>
          </a:xfrm>
          <a:prstGeom prst="rect">
            <a:avLst/>
          </a:prstGeom>
          <a:solidFill>
            <a:srgbClr val="162952"/>
          </a:solidFill>
          <a:ln w="12700">
            <a:solidFill>
              <a:srgbClr val="F59E0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39496" y="39684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  Audit Middleware: every API request emits api_request HookBus event + structured log. APIKey.role field.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429768" y="4370832"/>
            <a:ext cx="3941064" cy="36576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57784" y="4462272"/>
            <a:ext cx="3685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engine.require(Permission.WRITE_TAXII, key_store)  # FastAPI Depends</a:t>
            </a:r>
            <a:endParaRPr lang="en-US" sz="850" dirty="0"/>
          </a:p>
        </p:txBody>
      </p:sp>
      <p:sp>
        <p:nvSpPr>
          <p:cNvPr id="25" name="Shape 23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Object Validator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4773168" y="1280160"/>
            <a:ext cx="394106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STIXObjectValidator validates required properties, vocabularies, confidence, refs, and ID format.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1792224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182880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SDO  (19 types)</a:t>
            </a:r>
            <a:endParaRPr lang="en-US" sz="950" dirty="0"/>
          </a:p>
        </p:txBody>
      </p:sp>
      <p:sp>
        <p:nvSpPr>
          <p:cNvPr id="31" name="Text 29"/>
          <p:cNvSpPr/>
          <p:nvPr/>
        </p:nvSpPr>
        <p:spPr>
          <a:xfrm>
            <a:off x="4882896" y="2029968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indicator, malware, threat-actor, campaign, attack-pattern, course-of-action, identity, intrusion-set, tool, vulnerability, report, observed-data, note, opinion, relationship, sighting, infrastructure, malware-analysis, location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4773168" y="2505456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254203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  (16 types)</a:t>
            </a:r>
            <a:endParaRPr lang="en-US" sz="950" dirty="0"/>
          </a:p>
        </p:txBody>
      </p:sp>
      <p:sp>
        <p:nvSpPr>
          <p:cNvPr id="34" name="Text 32"/>
          <p:cNvSpPr/>
          <p:nvPr/>
        </p:nvSpPr>
        <p:spPr>
          <a:xfrm>
            <a:off x="4882896" y="2743200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ipv4-addr, ipv6-addr, domain-name, url, file, process, network-traffic, email-message, windows-registry-key, user-account, software, autonomous-system, directory, email-addr, mac-addr, mutex</a:t>
            </a:r>
            <a:endParaRPr lang="en-US" sz="750" dirty="0"/>
          </a:p>
        </p:txBody>
      </p:sp>
      <p:sp>
        <p:nvSpPr>
          <p:cNvPr id="35" name="Shape 33"/>
          <p:cNvSpPr/>
          <p:nvPr/>
        </p:nvSpPr>
        <p:spPr>
          <a:xfrm>
            <a:off x="4773168" y="3218688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255264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SRO  (2 types)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4882896" y="3456432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relationship, sighting — validates source/target ref format and relationship_type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4773168" y="3931920"/>
            <a:ext cx="3913632" cy="64008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396849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 (4 types)</a:t>
            </a:r>
            <a:endParaRPr lang="en-US" sz="950" dirty="0"/>
          </a:p>
        </p:txBody>
      </p:sp>
      <p:sp>
        <p:nvSpPr>
          <p:cNvPr id="40" name="Text 38"/>
          <p:cNvSpPr/>
          <p:nvPr/>
        </p:nvSpPr>
        <p:spPr>
          <a:xfrm>
            <a:off x="4882896" y="4169664"/>
            <a:ext cx="369417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bundle, marking-definition, language-content, extension-definition</a:t>
            </a:r>
            <a:endParaRPr lang="en-US" sz="750" dirty="0"/>
          </a:p>
        </p:txBody>
      </p:sp>
      <p:sp>
        <p:nvSpPr>
          <p:cNvPr id="41" name="Shape 39"/>
          <p:cNvSpPr/>
          <p:nvPr/>
        </p:nvSpPr>
        <p:spPr>
          <a:xfrm>
            <a:off x="4773168" y="4663440"/>
            <a:ext cx="3941064" cy="16459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754880"/>
            <a:ext cx="3685032" cy="-18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gnat.stix.object_validator import STIXObjectValidator</a:t>
            </a:r>
            <a:endParaRPr lang="en-US" sz="85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Orchestration — Workflow DAG Engine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20624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1440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gnat.agents.workflow  ·  Sequential DAG executor with success/failure routing, cycle detection, and elapsed timing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2004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2004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WorkflowStep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2976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fn, on_success, on_failure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step with optional routing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246888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246888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7860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WorkflowContext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257860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investigation, enriched_objects, gaps, draft,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errors, metadata — shared state across all steps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461772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461772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72744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72744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steps dict + entry_point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Run: .execute(ctx) → WorkflowResult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6766560" y="1344168"/>
            <a:ext cx="2011680" cy="13716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6766560" y="1344168"/>
            <a:ext cx="2011680" cy="7315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876288" y="1472184"/>
            <a:ext cx="179222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WorkflowResult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876288" y="1764792"/>
            <a:ext cx="1792224" cy="8595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success, steps_run, errors, elapsed_ms</a:t>
            </a:r>
            <a:endParaRPr lang="en-US" sz="900" dirty="0"/>
          </a:p>
          <a:p>
            <a:pPr algn="l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execution trace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29768" y="28346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Built-in Step Factories: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2004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42976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enrich_step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746504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1856232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correlate_step</a:t>
            </a:r>
            <a:endParaRPr lang="en-US" sz="850" dirty="0"/>
          </a:p>
        </p:txBody>
      </p:sp>
      <p:sp>
        <p:nvSpPr>
          <p:cNvPr id="28" name="Shape 26"/>
          <p:cNvSpPr/>
          <p:nvPr/>
        </p:nvSpPr>
        <p:spPr>
          <a:xfrm>
            <a:off x="3172968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282696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gap_detect_step</a:t>
            </a:r>
            <a:endParaRPr lang="en-US" sz="850" dirty="0"/>
          </a:p>
        </p:txBody>
      </p:sp>
      <p:sp>
        <p:nvSpPr>
          <p:cNvPr id="30" name="Shape 28"/>
          <p:cNvSpPr/>
          <p:nvPr/>
        </p:nvSpPr>
        <p:spPr>
          <a:xfrm>
            <a:off x="4599432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709160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draft_report_step</a:t>
            </a:r>
            <a:endParaRPr lang="en-US" sz="850" dirty="0"/>
          </a:p>
        </p:txBody>
      </p:sp>
      <p:sp>
        <p:nvSpPr>
          <p:cNvPr id="32" name="Shape 30"/>
          <p:cNvSpPr/>
          <p:nvPr/>
        </p:nvSpPr>
        <p:spPr>
          <a:xfrm>
            <a:off x="6025896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135624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transition_step</a:t>
            </a:r>
            <a:endParaRPr lang="en-US" sz="850" dirty="0"/>
          </a:p>
        </p:txBody>
      </p:sp>
      <p:sp>
        <p:nvSpPr>
          <p:cNvPr id="34" name="Shape 32"/>
          <p:cNvSpPr/>
          <p:nvPr/>
        </p:nvSpPr>
        <p:spPr>
          <a:xfrm>
            <a:off x="7452360" y="3108960"/>
            <a:ext cx="1335024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562088" y="3145536"/>
            <a:ext cx="111556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fn_step</a:t>
            </a:r>
            <a:endParaRPr lang="en-US" sz="850" dirty="0"/>
          </a:p>
        </p:txBody>
      </p:sp>
      <p:sp>
        <p:nvSpPr>
          <p:cNvPr id="36" name="Text 34"/>
          <p:cNvSpPr/>
          <p:nvPr/>
        </p:nvSpPr>
        <p:spPr>
          <a:xfrm>
            <a:off x="429768" y="3520440"/>
            <a:ext cx="27432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Pre-built Workflows:</a:t>
            </a:r>
            <a:endParaRPr lang="en-US" sz="1000" dirty="0"/>
          </a:p>
        </p:txBody>
      </p:sp>
      <p:sp>
        <p:nvSpPr>
          <p:cNvPr id="37" name="Shape 35"/>
          <p:cNvSpPr/>
          <p:nvPr/>
        </p:nvSpPr>
        <p:spPr>
          <a:xfrm>
            <a:off x="320040" y="3822192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29768" y="3877056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PhishingTriage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1938528" y="3913632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transition(IN_PROGRESS)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320040" y="4297680"/>
            <a:ext cx="8503920" cy="402336"/>
          </a:xfrm>
          <a:prstGeom prst="rect">
            <a:avLst/>
          </a:prstGeom>
          <a:solidFill>
            <a:srgbClr val="1E293B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29768" y="4352544"/>
            <a:ext cx="1463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IncidentResponse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938528" y="4389120"/>
            <a:ext cx="676656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 → correlate → gap_detect → draft_report → transition(REVIEW)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20040" y="4828032"/>
            <a:ext cx="8503920" cy="274320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448056" y="4919472"/>
            <a:ext cx="8247888" cy="91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from gnat.agents.workflows.phishing_triage import build_phishing_triage_workflow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result = build_phishing_triage_workflow(enricher, correlator, detector, drafter, svc).execute(ctx)</a:t>
            </a:r>
            <a:endParaRPr lang="en-US" sz="85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&amp; Analyst Metrics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416052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(gnat.lineage)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4297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Append-only event log. Zero new runtime dependencies. Optional deployment.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429768" y="1737360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539496" y="1773936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LineageEventType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539496" y="1975104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INGESTED · ENRICHED · NORMALIZED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LINKED · EXPORTED · REPORTED · DELETED</a:t>
            </a:r>
            <a:endParaRPr lang="en-US" sz="850" dirty="0"/>
          </a:p>
        </p:txBody>
      </p:sp>
      <p:sp>
        <p:nvSpPr>
          <p:cNvPr id="12" name="Shape 10"/>
          <p:cNvSpPr/>
          <p:nvPr/>
        </p:nvSpPr>
        <p:spPr>
          <a:xfrm>
            <a:off x="429768" y="2359152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39496" y="2395728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LineageEvent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539496" y="2596896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UUID4 id · timestamp · object_id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actor · source · metadata dict (immutable)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429768" y="2980944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39496" y="3017520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LineageStore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539496" y="3218688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SQLAlchemy-backed lineage_events table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append / query / query_by_type / count()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429768" y="3602736"/>
            <a:ext cx="3913632" cy="548640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39496" y="3639312"/>
            <a:ext cx="3694176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LineageTracker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539496" y="3840480"/>
            <a:ext cx="369417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Convenience wrapper: record_ingested()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record_enriched() … store=None → no-op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429768" y="4242816"/>
            <a:ext cx="3941064" cy="347472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57784" y="4334256"/>
            <a:ext cx="368503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tracker.record_ingested("indicator--abc", actor="feed_scheduler")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store.query("indicator--abc")  # full audit trail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429768" y="4645152"/>
            <a:ext cx="394106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ADR-0038: append-only log · no runtime deps · optional deployment</a:t>
            </a:r>
            <a:endParaRPr lang="en-US" sz="750" dirty="0"/>
          </a:p>
        </p:txBody>
      </p:sp>
      <p:sp>
        <p:nvSpPr>
          <p:cNvPr id="24" name="Shape 22"/>
          <p:cNvSpPr/>
          <p:nvPr/>
        </p:nvSpPr>
        <p:spPr>
          <a:xfrm>
            <a:off x="4663440" y="822960"/>
            <a:ext cx="4160520" cy="404164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663440" y="822960"/>
            <a:ext cx="416052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773168" y="859536"/>
            <a:ext cx="39410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(gnat.metrics)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4773168" y="1280160"/>
            <a:ext cx="394106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Thread-safe ring-buffer collector with structured aggregation by type and time window.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773168" y="1719072"/>
            <a:ext cx="3941064" cy="9875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INVESTIGATION_CREATED · INVESTIGATION_CLOSED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ENRICHMENT_ATTEMPTED · ENRICHMENT_SUCCESS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REPORT_PUBLISHED · GAP_DETECTED</a:t>
            </a:r>
            <a:endParaRPr lang="en-US" sz="900" dirty="0"/>
          </a:p>
          <a:p>
            <a:pPr marL="342900" indent="-342900">
              <a:buSzPct val="100000"/>
              <a:buChar char="•"/>
            </a:pPr>
            <a:r>
              <a:rPr lang="en-US" sz="9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FALSE_POSITIVE_FLAGGED · ANALYST_OVERRIDE · INTEL_PROMOTED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773168" y="2798064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882896" y="2834640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investigation_summary(days)</a:t>
            </a:r>
            <a:endParaRPr lang="en-US" sz="850" dirty="0"/>
          </a:p>
        </p:txBody>
      </p:sp>
      <p:sp>
        <p:nvSpPr>
          <p:cNvPr id="31" name="Text 29"/>
          <p:cNvSpPr/>
          <p:nvPr/>
        </p:nvSpPr>
        <p:spPr>
          <a:xfrm>
            <a:off x="4882896" y="3035808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breakdown + close rate for period</a:t>
            </a:r>
            <a:endParaRPr lang="en-US" sz="800" dirty="0"/>
          </a:p>
        </p:txBody>
      </p:sp>
      <p:sp>
        <p:nvSpPr>
          <p:cNvPr id="32" name="Shape 30"/>
          <p:cNvSpPr/>
          <p:nvPr/>
        </p:nvSpPr>
        <p:spPr>
          <a:xfrm>
            <a:off x="4773168" y="3310128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882896" y="3346704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enrichment_effectiveness(platform, days)</a:t>
            </a:r>
            <a:endParaRPr lang="en-US" sz="850" dirty="0"/>
          </a:p>
        </p:txBody>
      </p:sp>
      <p:sp>
        <p:nvSpPr>
          <p:cNvPr id="34" name="Text 32"/>
          <p:cNvSpPr/>
          <p:nvPr/>
        </p:nvSpPr>
        <p:spPr>
          <a:xfrm>
            <a:off x="4882896" y="354787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Hit rate + avg per-platform confidence</a:t>
            </a:r>
            <a:endParaRPr lang="en-US" sz="800" dirty="0"/>
          </a:p>
        </p:txBody>
      </p:sp>
      <p:sp>
        <p:nvSpPr>
          <p:cNvPr id="35" name="Shape 33"/>
          <p:cNvSpPr/>
          <p:nvPr/>
        </p:nvSpPr>
        <p:spPr>
          <a:xfrm>
            <a:off x="4773168" y="3822192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4882896" y="3858768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gap_frequency(days)</a:t>
            </a:r>
            <a:endParaRPr lang="en-US" sz="850" dirty="0"/>
          </a:p>
        </p:txBody>
      </p:sp>
      <p:sp>
        <p:nvSpPr>
          <p:cNvPr id="37" name="Text 35"/>
          <p:cNvSpPr/>
          <p:nvPr/>
        </p:nvSpPr>
        <p:spPr>
          <a:xfrm>
            <a:off x="4882896" y="4059936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Gap detection rate over the window</a:t>
            </a:r>
            <a:endParaRPr lang="en-US" sz="800" dirty="0"/>
          </a:p>
        </p:txBody>
      </p:sp>
      <p:sp>
        <p:nvSpPr>
          <p:cNvPr id="38" name="Shape 36"/>
          <p:cNvSpPr/>
          <p:nvPr/>
        </p:nvSpPr>
        <p:spPr>
          <a:xfrm>
            <a:off x="4773168" y="4334256"/>
            <a:ext cx="3913632" cy="438912"/>
          </a:xfrm>
          <a:prstGeom prst="rect">
            <a:avLst/>
          </a:prstGeom>
          <a:solidFill>
            <a:srgbClr val="1E293B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4882896" y="4370832"/>
            <a:ext cx="36941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false_positive_rate(days)</a:t>
            </a:r>
            <a:endParaRPr lang="en-US" sz="850" dirty="0"/>
          </a:p>
        </p:txBody>
      </p:sp>
      <p:sp>
        <p:nvSpPr>
          <p:cNvPr id="40" name="Text 38"/>
          <p:cNvSpPr/>
          <p:nvPr/>
        </p:nvSpPr>
        <p:spPr>
          <a:xfrm>
            <a:off x="4882896" y="4572000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FP:total ratio for the window</a:t>
            </a:r>
            <a:endParaRPr lang="en-US" sz="800" dirty="0"/>
          </a:p>
        </p:txBody>
      </p:sp>
      <p:sp>
        <p:nvSpPr>
          <p:cNvPr id="41" name="Shape 39"/>
          <p:cNvSpPr/>
          <p:nvPr/>
        </p:nvSpPr>
        <p:spPr>
          <a:xfrm>
            <a:off x="4773168" y="4864608"/>
            <a:ext cx="3941064" cy="219456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4901184" y="4956048"/>
            <a:ext cx="3685032" cy="365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collector.record(MetricType.REPORT_PUBLISHED, 1)  # anywhere in pipeline</a:t>
            </a:r>
            <a:endParaRPr lang="en-US" sz="8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(v1.4+)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8503920" cy="402336"/>
          </a:xfrm>
          <a:prstGeom prst="rect">
            <a:avLst/>
          </a:prstGeom>
          <a:solidFill>
            <a:srgbClr val="162952"/>
          </a:solidFill>
          <a:ln w="12700">
            <a:solidFill>
              <a:srgbClr val="0891B2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905256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Human-in-the-loop gate between AI-extracted intel and the analyst-verified workspace. Analysts approve, modify, or reject before promotion.</a:t>
            </a:r>
            <a:endParaRPr lang="en-US" sz="950" dirty="0"/>
          </a:p>
        </p:txBody>
      </p:sp>
      <p:sp>
        <p:nvSpPr>
          <p:cNvPr id="7" name="Shape 5"/>
          <p:cNvSpPr/>
          <p:nvPr/>
        </p:nvSpPr>
        <p:spPr>
          <a:xfrm>
            <a:off x="384048" y="1298448"/>
            <a:ext cx="841248" cy="27432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20624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PENDING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335024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0" name="Shape 8"/>
          <p:cNvSpPr/>
          <p:nvPr/>
        </p:nvSpPr>
        <p:spPr>
          <a:xfrm>
            <a:off x="2286000" y="1298448"/>
            <a:ext cx="841248" cy="274320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322576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3236976" y="1335024"/>
            <a:ext cx="548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4187952" y="1298448"/>
            <a:ext cx="841248" cy="274320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224528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PROMOTED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89904" y="1298448"/>
            <a:ext cx="841248" cy="274320"/>
          </a:xfrm>
          <a:prstGeom prst="rect">
            <a:avLst/>
          </a:prstGeom>
          <a:solidFill>
            <a:srgbClr val="EF44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26480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REJECTED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7991856" y="1298448"/>
            <a:ext cx="841248" cy="2743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28432" y="1316736"/>
            <a:ext cx="768096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MODIFIED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200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320040" y="1682496"/>
            <a:ext cx="4160520" cy="32918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297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ReviewService Methods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9768" y="20848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submit(stix_id, stix_type, stix_data, ...)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429768" y="22677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Queue AI-extracted intel for review (PENDING)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429768" y="24505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approve(id, reviewer, notes, confidence)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429768" y="26334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APPROVED + optional confidence override (0-100)</a:t>
            </a:r>
            <a:endParaRPr lang="en-US" sz="750" dirty="0"/>
          </a:p>
        </p:txBody>
      </p:sp>
      <p:sp>
        <p:nvSpPr>
          <p:cNvPr id="26" name="Text 24"/>
          <p:cNvSpPr/>
          <p:nvPr/>
        </p:nvSpPr>
        <p:spPr>
          <a:xfrm>
            <a:off x="429768" y="281635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reject(id, reviewer, reason)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429768" y="299923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REJECTED with reason</a:t>
            </a:r>
            <a:endParaRPr lang="en-US" sz="750" dirty="0"/>
          </a:p>
        </p:txBody>
      </p:sp>
      <p:sp>
        <p:nvSpPr>
          <p:cNvPr id="28" name="Text 26"/>
          <p:cNvSpPr/>
          <p:nvPr/>
        </p:nvSpPr>
        <p:spPr>
          <a:xfrm>
            <a:off x="429768" y="318211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modify(id, reviewer, modified_properties)</a:t>
            </a:r>
            <a:endParaRPr lang="en-US" sz="800" dirty="0"/>
          </a:p>
        </p:txBody>
      </p:sp>
      <p:sp>
        <p:nvSpPr>
          <p:cNvPr id="29" name="Text 27"/>
          <p:cNvSpPr/>
          <p:nvPr/>
        </p:nvSpPr>
        <p:spPr>
          <a:xfrm>
            <a:off x="429768" y="336499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Capture analyst property overrides (MODIFIED)</a:t>
            </a:r>
            <a:endParaRPr lang="en-US" sz="750" dirty="0"/>
          </a:p>
        </p:txBody>
      </p:sp>
      <p:sp>
        <p:nvSpPr>
          <p:cNvPr id="30" name="Text 28"/>
          <p:cNvSpPr/>
          <p:nvPr/>
        </p:nvSpPr>
        <p:spPr>
          <a:xfrm>
            <a:off x="429768" y="354787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promote(id, reviewer, workspace_manager)</a:t>
            </a:r>
            <a:endParaRPr lang="en-US" sz="800" dirty="0"/>
          </a:p>
        </p:txBody>
      </p:sp>
      <p:sp>
        <p:nvSpPr>
          <p:cNvPr id="31" name="Text 29"/>
          <p:cNvSpPr/>
          <p:nvPr/>
        </p:nvSpPr>
        <p:spPr>
          <a:xfrm>
            <a:off x="429768" y="373075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 overrides + x_source_type=analyst_verified</a:t>
            </a:r>
            <a:endParaRPr lang="en-US" sz="750" dirty="0"/>
          </a:p>
        </p:txBody>
      </p:sp>
      <p:sp>
        <p:nvSpPr>
          <p:cNvPr id="32" name="Text 30"/>
          <p:cNvSpPr/>
          <p:nvPr/>
        </p:nvSpPr>
        <p:spPr>
          <a:xfrm>
            <a:off x="429768" y="391363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bulk_approve(ids) / bulk_reject(ids)</a:t>
            </a:r>
            <a:endParaRPr lang="en-US" sz="800" dirty="0"/>
          </a:p>
        </p:txBody>
      </p:sp>
      <p:sp>
        <p:nvSpPr>
          <p:cNvPr id="33" name="Text 31"/>
          <p:cNvSpPr/>
          <p:nvPr/>
        </p:nvSpPr>
        <p:spPr>
          <a:xfrm>
            <a:off x="429768" y="409651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Batch operations with full validation</a:t>
            </a:r>
            <a:endParaRPr lang="en-US" sz="750" dirty="0"/>
          </a:p>
        </p:txBody>
      </p:sp>
      <p:sp>
        <p:nvSpPr>
          <p:cNvPr id="34" name="Text 32"/>
          <p:cNvSpPr/>
          <p:nvPr/>
        </p:nvSpPr>
        <p:spPr>
          <a:xfrm>
            <a:off x="429768" y="4279392"/>
            <a:ext cx="39136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06B6D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stats()</a:t>
            </a:r>
            <a:endParaRPr lang="en-US" sz="800" dirty="0"/>
          </a:p>
        </p:txBody>
      </p:sp>
      <p:sp>
        <p:nvSpPr>
          <p:cNvPr id="35" name="Text 33"/>
          <p:cNvSpPr/>
          <p:nvPr/>
        </p:nvSpPr>
        <p:spPr>
          <a:xfrm>
            <a:off x="429768" y="4462272"/>
            <a:ext cx="3913632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Per-status breakdown + total count</a:t>
            </a:r>
            <a:endParaRPr lang="en-US" sz="750" dirty="0"/>
          </a:p>
        </p:txBody>
      </p:sp>
      <p:sp>
        <p:nvSpPr>
          <p:cNvPr id="36" name="Shape 34"/>
          <p:cNvSpPr/>
          <p:nvPr/>
        </p:nvSpPr>
        <p:spPr>
          <a:xfrm>
            <a:off x="4663440" y="1682496"/>
            <a:ext cx="4160520" cy="310896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7" name="Shape 35"/>
          <p:cNvSpPr/>
          <p:nvPr/>
        </p:nvSpPr>
        <p:spPr>
          <a:xfrm>
            <a:off x="4663440" y="1682496"/>
            <a:ext cx="4160520" cy="329184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773168" y="1719072"/>
            <a:ext cx="394106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 API  ·  CLI  ·  TUI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4773168" y="2084832"/>
            <a:ext cx="3941064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  —  list (status + type + submitter filters)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  —  submit new item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/api/review/stats  —  per-status counts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GET  /api/review/{id}  —  item detail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/api/review/{id}/approve  —  approve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/api/review/{id}/reject   —  reject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/api/review/{id}/modify   —  set overrides</a:t>
            </a:r>
            <a:endParaRPr lang="en-US" sz="800" dirty="0"/>
          </a:p>
          <a:p>
            <a:pPr marL="342900" indent="-342900">
              <a:buSzPct val="100000"/>
              <a:buChar char="•"/>
            </a:pPr>
            <a:r>
              <a:rPr lang="en-US" sz="800" dirty="0">
                <a:solidFill>
                  <a:srgbClr val="E8EFF8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POST /api/review/{id}/promote  —  promote to workspace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4773168" y="3968496"/>
            <a:ext cx="3941064" cy="51206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901184" y="4059936"/>
            <a:ext cx="3685032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list --status pending --type indicator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approve &lt;id&gt; --by alice --confidence 85</a:t>
            </a:r>
            <a:endParaRPr lang="en-US" sz="850" dirty="0"/>
          </a:p>
          <a:p>
            <a:pPr indent="0" marL="0">
              <a:buNone/>
            </a:pPr>
            <a:r>
              <a:rPr lang="en-US" sz="850" dirty="0">
                <a:solidFill>
                  <a:srgbClr val="A5F3F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gnat review stats</a:t>
            </a:r>
            <a:endParaRPr lang="en-US" sz="850" dirty="0"/>
          </a:p>
        </p:txBody>
      </p:sp>
      <p:sp>
        <p:nvSpPr>
          <p:cNvPr id="42" name="Shape 40"/>
          <p:cNvSpPr/>
          <p:nvPr/>
        </p:nvSpPr>
        <p:spPr>
          <a:xfrm>
            <a:off x="4773168" y="4535424"/>
            <a:ext cx="3913632" cy="201168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4882896" y="4553712"/>
            <a:ext cx="369417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06B6D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TUI: F6  ReviewScreen  ·  Approve/Reject/Modify with confidence input  ·  Ctrl+A bulk approve</a:t>
            </a:r>
            <a:endParaRPr lang="en-US" sz="7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 — Control, Reasoning &amp; Safety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ExecutionContext · Domain Boundaries · HypothesisEngine · AgentGovernor · HITL · Workspace Trust  —  shipped in v1.6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20040" y="1243584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7" name="Shape 5"/>
          <p:cNvSpPr/>
          <p:nvPr/>
        </p:nvSpPr>
        <p:spPr>
          <a:xfrm>
            <a:off x="320040" y="1243584"/>
            <a:ext cx="73152" cy="67665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02920" y="1298448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ExecutionContext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02920" y="1298448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gnat/core/context.py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502920" y="1527048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operation stamped with context_id, domain, trust_level, workspace_id. Append-only execution_log (migration 0004). Full audit trail from connector call to report.</a:t>
            </a:r>
            <a:endParaRPr lang="en-US" sz="800" dirty="0"/>
          </a:p>
        </p:txBody>
      </p:sp>
      <p:sp>
        <p:nvSpPr>
          <p:cNvPr id="11" name="Shape 9"/>
          <p:cNvSpPr/>
          <p:nvPr/>
        </p:nvSpPr>
        <p:spPr>
          <a:xfrm>
            <a:off x="320040" y="1993392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20040" y="1993392"/>
            <a:ext cx="73152" cy="67665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02920" y="2048256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Domain Boundaries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502920" y="2048256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gnat/core/domains.py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502920" y="2276856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Ingestion ↔ Analysis ↔ Investigation ↔ Reporting are enforced domains. @domain_boundary decorator raises DomainBoundaryViolation on illegal cross-domain calls.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320040" y="2743200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06B6D4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20040" y="2743200"/>
            <a:ext cx="73152" cy="67665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02920" y="2798064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HypothesisEngine + NegativeEvidence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02920" y="2798064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gnat/reasoning/hypothesis.py</a:t>
            </a:r>
            <a:endParaRPr lang="en-US" sz="800" dirty="0"/>
          </a:p>
        </p:txBody>
      </p:sp>
      <p:sp>
        <p:nvSpPr>
          <p:cNvPr id="20" name="Text 18"/>
          <p:cNvSpPr/>
          <p:nvPr/>
        </p:nvSpPr>
        <p:spPr>
          <a:xfrm>
            <a:off x="502920" y="3026664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propose → evaluate → close lifecycle. Confidence scoring weighted by connector TRUST_LEVEL (0.9/0.6/0.3). NegativeEvidenceRecord suppresses redundant re-queries within TTL.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3493008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F59E0B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0040" y="3493008"/>
            <a:ext cx="73152" cy="67665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02920" y="3547872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AgentGovernor + HITL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502920" y="3547872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gnat/agents/governor.py  ·  hitl.py</a:t>
            </a:r>
            <a:endParaRPr lang="en-US" sz="800" dirty="0"/>
          </a:p>
        </p:txBody>
      </p:sp>
      <p:sp>
        <p:nvSpPr>
          <p:cNvPr id="25" name="Text 23"/>
          <p:cNvSpPr/>
          <p:nvPr/>
        </p:nvSpPr>
        <p:spPr>
          <a:xfrm>
            <a:off x="502920" y="3776472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agent actions routed through permission matrix ([agent_policy] INI). High/critical actions create PENDING ReviewItem via existing gnat/review/. Critical triggers XSOAR playbook.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320040" y="4242816"/>
            <a:ext cx="5029200" cy="676656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7" name="Shape 25"/>
          <p:cNvSpPr/>
          <p:nvPr/>
        </p:nvSpPr>
        <p:spPr>
          <a:xfrm>
            <a:off x="320040" y="4242816"/>
            <a:ext cx="73152" cy="67665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502920" y="4297680"/>
            <a:ext cx="32918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ReasoningEngine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502920" y="4297680"/>
            <a:ext cx="4663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gnat/reasoning/engine.py</a:t>
            </a:r>
            <a:endParaRPr lang="en-US" sz="800" dirty="0"/>
          </a:p>
        </p:txBody>
      </p:sp>
      <p:sp>
        <p:nvSpPr>
          <p:cNvPr id="30" name="Text 28"/>
          <p:cNvSpPr/>
          <p:nvPr/>
        </p:nvSpPr>
        <p:spPr>
          <a:xfrm>
            <a:off x="502920" y="4526280"/>
            <a:ext cx="46634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prioritize(observable_set, context) scores each observable using trust level, hypothesis confidence, NE TTL, age, and corroboration count. Outputs structured machine-readable explanation dict.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5532120" y="1243584"/>
            <a:ext cx="3291840" cy="374904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532120" y="1243584"/>
            <a:ext cx="3291840" cy="347472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5641848" y="1280160"/>
            <a:ext cx="307238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Trust Model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641848" y="1682496"/>
            <a:ext cx="3072384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TRUST_LEVEL on all 159 connectors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5641848" y="1993392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10B981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5641848" y="2066544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2800" dirty="0"/>
          </a:p>
        </p:txBody>
      </p:sp>
      <p:sp>
        <p:nvSpPr>
          <p:cNvPr id="37" name="Text 35"/>
          <p:cNvSpPr/>
          <p:nvPr/>
        </p:nvSpPr>
        <p:spPr>
          <a:xfrm>
            <a:off x="6163056" y="204825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trusted_internal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6163056" y="2249424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0.9</a:t>
            </a:r>
            <a:endParaRPr lang="en-US" sz="800" dirty="0"/>
          </a:p>
        </p:txBody>
      </p:sp>
      <p:sp>
        <p:nvSpPr>
          <p:cNvPr id="39" name="Text 37"/>
          <p:cNvSpPr/>
          <p:nvPr/>
        </p:nvSpPr>
        <p:spPr>
          <a:xfrm>
            <a:off x="6163056" y="2432304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Splunk · Sentinel · QRadar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· Elastic · Wazuh</a:t>
            </a:r>
            <a:endParaRPr lang="en-US" sz="750" dirty="0"/>
          </a:p>
        </p:txBody>
      </p:sp>
      <p:sp>
        <p:nvSpPr>
          <p:cNvPr id="40" name="Shape 38"/>
          <p:cNvSpPr/>
          <p:nvPr/>
        </p:nvSpPr>
        <p:spPr>
          <a:xfrm>
            <a:off x="5641848" y="2944368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F59E0B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5641848" y="3017520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61</a:t>
            </a:r>
            <a:endParaRPr lang="en-US" sz="2800" dirty="0"/>
          </a:p>
        </p:txBody>
      </p:sp>
      <p:sp>
        <p:nvSpPr>
          <p:cNvPr id="42" name="Text 40"/>
          <p:cNvSpPr/>
          <p:nvPr/>
        </p:nvSpPr>
        <p:spPr>
          <a:xfrm>
            <a:off x="6163056" y="299923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semi_trusted</a:t>
            </a:r>
            <a:endParaRPr lang="en-US" sz="900" dirty="0"/>
          </a:p>
        </p:txBody>
      </p:sp>
      <p:sp>
        <p:nvSpPr>
          <p:cNvPr id="43" name="Text 41"/>
          <p:cNvSpPr/>
          <p:nvPr/>
        </p:nvSpPr>
        <p:spPr>
          <a:xfrm>
            <a:off x="6163056" y="3200400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0.6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6163056" y="3383280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CrowdStrike · ThreatQ · MISP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VirusTotal · Mandiant · RF</a:t>
            </a:r>
            <a:endParaRPr lang="en-US" sz="750" dirty="0"/>
          </a:p>
        </p:txBody>
      </p:sp>
      <p:sp>
        <p:nvSpPr>
          <p:cNvPr id="45" name="Shape 43"/>
          <p:cNvSpPr/>
          <p:nvPr/>
        </p:nvSpPr>
        <p:spPr>
          <a:xfrm>
            <a:off x="5641848" y="3895344"/>
            <a:ext cx="3017520" cy="822960"/>
          </a:xfrm>
          <a:prstGeom prst="rect">
            <a:avLst/>
          </a:prstGeom>
          <a:solidFill>
            <a:srgbClr val="1E293B"/>
          </a:solidFill>
          <a:ln w="6350">
            <a:solidFill>
              <a:srgbClr val="EF4444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5641848" y="3968496"/>
            <a:ext cx="502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2800" dirty="0"/>
          </a:p>
        </p:txBody>
      </p:sp>
      <p:sp>
        <p:nvSpPr>
          <p:cNvPr id="47" name="Text 45"/>
          <p:cNvSpPr/>
          <p:nvPr/>
        </p:nvSpPr>
        <p:spPr>
          <a:xfrm>
            <a:off x="6163056" y="39502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EF44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untrusted_external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6163056" y="4151376"/>
            <a:ext cx="23774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confidence weight: 0.3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6163056" y="4334256"/>
            <a:ext cx="23774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AlienVault OTX · CISA</a:t>
            </a:r>
            <a:endParaRPr lang="en-US" sz="750" dirty="0"/>
          </a:p>
          <a:p>
            <a:pPr indent="0" marL="0">
              <a:buNone/>
            </a:pPr>
            <a:r>
              <a:rPr lang="en-US" sz="7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ShadowServer · OSINT</a:t>
            </a:r>
            <a:endParaRPr lang="en-US" sz="750" dirty="0"/>
          </a:p>
        </p:txBody>
      </p:sp>
      <p:sp>
        <p:nvSpPr>
          <p:cNvPr id="50" name="Shape 48"/>
          <p:cNvSpPr/>
          <p:nvPr/>
        </p:nvSpPr>
        <p:spPr>
          <a:xfrm>
            <a:off x="320040" y="4846320"/>
            <a:ext cx="8503920" cy="20116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429768" y="4864608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ADRs 0039–0049  ·  TRUST_LEVEL on all 159 connectors  ·  Alembic migrations 0004–0008  ·  SimulationConnector · ReplayRunner · AgentTestHarness</a:t>
            </a:r>
            <a:endParaRPr lang="en-US" sz="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Abstraction Advantage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32004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2976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Portability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2976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Switch from ThreatQ to a new TIP? Change one config line. The pipeline, scheduler, reports, and export jobs all work unchanged. Your automation is not locked to any platform.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5468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54680" y="82296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6440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Maintenance Simplicity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6440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API changes affect one connector file, not every script. Tests cover all connectors uniformly. One library version number covers the entire integration stack.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5989320" y="82296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82296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89611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Interface Consistency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099048" y="132588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platform exposes get_object(), list_objects(), upsert_object(), to_stix(), from_stix(). Analysts learn one mental model once and it works across 159 platforms.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32004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32004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2976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Operational Coherence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2976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scheduler, one health endpoint, one log stream. No more asking which of 15 scripts ran overnight and whether it worked. FeedScheduler.summary() answers all of that.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5468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54680" y="2834640"/>
            <a:ext cx="2651760" cy="38404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6440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Incremental Adoption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6440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layer is independently useful. Start with connectors only. Add ingest. Add export. Add AI. Add reports. The stack is additive — you never have to replace working parts.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651760" cy="18288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651760" cy="384048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2907792"/>
            <a:ext cx="2432304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Coverage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099048" y="3337560"/>
            <a:ext cx="2432304" cy="12070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5,100+ unit tests across 40+ test files. Every connector, every pipeline stage, every renderer, every scheduler, every new v1.4/1.5 module. Confidence in changes without regression fear.</a:t>
            </a:r>
            <a:endParaRPr lang="en-US" sz="95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Safety, CI &amp; Developer Security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29260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292608" y="822960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0233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Actions CI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40233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pylint workflow on every push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Python 3.9 / 3.10 / 3.11 / 3.12 matrix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Fails build on any lint error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Badge on README signals status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317296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172968" y="822960"/>
            <a:ext cx="2724912" cy="402336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28269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Copilot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28269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AI-assisted code review on pull requests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Inline suggestions during authoring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detection across codebase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AI code still gates through CI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6053328" y="822960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053328" y="822960"/>
            <a:ext cx="2724912" cy="402336"/>
          </a:xfrm>
          <a:prstGeom prst="rect">
            <a:avLst/>
          </a:prstGeom>
          <a:solidFill>
            <a:srgbClr val="06B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163056" y="896112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 + mypy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163056" y="1316736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Ruff: E, F, W, I, UP, B, C4, SIM rules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Line length 100, Python 3.9 target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mypy: warn_return_any, strict configs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make check = lint + typecheck gate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29260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292608" y="2852928"/>
            <a:ext cx="2724912" cy="402336"/>
          </a:xfrm>
          <a:prstGeom prst="rect">
            <a:avLst/>
          </a:prstGeom>
          <a:solidFill>
            <a:srgbClr val="10B9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0233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pytest + Coverage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40233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5,100+ unit tests across 40+ files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70% minimum coverage enforced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fail_under = 70 in pyproject.toml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harness (ES + Solr)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317296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172968" y="2852928"/>
            <a:ext cx="2724912" cy="402336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28269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Dependabot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28269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dependency update PRs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PR per dependency for audit trail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Pinned versions reviewed before merge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Covers Python + GitHub Actions deps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6053328" y="2852928"/>
            <a:ext cx="2724912" cy="1847088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053328" y="2852928"/>
            <a:ext cx="2724912" cy="402336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163056" y="2926080"/>
            <a:ext cx="250545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 + Secret Scanning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163056" y="3346704"/>
            <a:ext cx="2505456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Snyk: dependency vulnerability scanning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Code security analysis in pipeline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 secret scanning: blocks known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patterns before they reach history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292608" y="4846320"/>
            <a:ext cx="8577072" cy="182880"/>
          </a:xfrm>
          <a:prstGeom prst="rect">
            <a:avLst/>
          </a:prstGeom>
          <a:solidFill>
            <a:srgbClr val="162952"/>
          </a:solidFill>
          <a:ln w="6350">
            <a:solidFill>
              <a:srgbClr val="0891B2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402336" y="4864608"/>
            <a:ext cx="83576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 ceiling — draft PRs only — localhost binding by default — call() write guard — no credentials in source — HMAC constant-time key validation</a:t>
            </a:r>
            <a:endParaRPr lang="en-US" sz="75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By the Numbers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029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029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6126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</a:t>
            </a:r>
            <a:endParaRPr lang="en-US" sz="4200" dirty="0"/>
          </a:p>
        </p:txBody>
      </p:sp>
      <p:sp>
        <p:nvSpPr>
          <p:cNvPr id="8" name="Text 6"/>
          <p:cNvSpPr/>
          <p:nvPr/>
        </p:nvSpPr>
        <p:spPr>
          <a:xfrm>
            <a:off x="6126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Platform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2461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246120" y="91440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3558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5,100+</a:t>
            </a:r>
            <a:endParaRPr lang="en-US" sz="4200" dirty="0"/>
          </a:p>
        </p:txBody>
      </p:sp>
      <p:sp>
        <p:nvSpPr>
          <p:cNvPr id="12" name="Text 10"/>
          <p:cNvSpPr/>
          <p:nvPr/>
        </p:nvSpPr>
        <p:spPr>
          <a:xfrm>
            <a:off x="33558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989320" y="91440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5989320" y="91440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6099048" y="109728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250+</a:t>
            </a:r>
            <a:endParaRPr lang="en-US" sz="4200" dirty="0"/>
          </a:p>
        </p:txBody>
      </p:sp>
      <p:sp>
        <p:nvSpPr>
          <p:cNvPr id="16" name="Text 14"/>
          <p:cNvSpPr/>
          <p:nvPr/>
        </p:nvSpPr>
        <p:spPr>
          <a:xfrm>
            <a:off x="6099048" y="192024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029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502920" y="2834640"/>
            <a:ext cx="2468880" cy="9144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126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~$50</a:t>
            </a:r>
            <a:endParaRPr lang="en-US" sz="4200" dirty="0"/>
          </a:p>
        </p:txBody>
      </p:sp>
      <p:sp>
        <p:nvSpPr>
          <p:cNvPr id="20" name="Text 18"/>
          <p:cNvSpPr/>
          <p:nvPr/>
        </p:nvSpPr>
        <p:spPr>
          <a:xfrm>
            <a:off x="6126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Monthly Azure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VM Cost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2461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246120" y="2834640"/>
            <a:ext cx="2468880" cy="91440"/>
          </a:xfrm>
          <a:prstGeom prst="rect">
            <a:avLst/>
          </a:prstGeom>
          <a:solidFill>
            <a:srgbClr val="F59E0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3558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60</a:t>
            </a:r>
            <a:endParaRPr lang="en-US" sz="4200" dirty="0"/>
          </a:p>
        </p:txBody>
      </p:sp>
      <p:sp>
        <p:nvSpPr>
          <p:cNvPr id="24" name="Text 22"/>
          <p:cNvSpPr/>
          <p:nvPr/>
        </p:nvSpPr>
        <p:spPr>
          <a:xfrm>
            <a:off x="33558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Confidence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Ceiling (default)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5989320" y="2834640"/>
            <a:ext cx="2468880" cy="164592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  <a:effectLst>
            <a:outerShdw sx="100000" sy="100000" kx="0" ky="0" algn="bl" rotWithShape="0" blurRad="76200" dist="38100" dir="8100000">
              <a:srgbClr val="000000">
                <a:alpha val="3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5989320" y="2834640"/>
            <a:ext cx="2468880" cy="9144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099048" y="3017520"/>
            <a:ext cx="2249424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2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</a:t>
            </a:r>
            <a:endParaRPr lang="en-US" sz="4200" dirty="0"/>
          </a:p>
        </p:txBody>
      </p:sp>
      <p:sp>
        <p:nvSpPr>
          <p:cNvPr id="28" name="Text 26"/>
          <p:cNvSpPr/>
          <p:nvPr/>
        </p:nvSpPr>
        <p:spPr>
          <a:xfrm>
            <a:off x="6099048" y="3840480"/>
            <a:ext cx="224942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</a:t>
            </a:r>
            <a:endParaRPr lang="en-US" sz="1000" dirty="0"/>
          </a:p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Decision Records</a:t>
            </a:r>
            <a:endParaRPr lang="en-US" sz="10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Implementation Sequence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3657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3657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1-2</a:t>
            </a:r>
            <a:endParaRPr lang="en-US" sz="750" dirty="0"/>
          </a:p>
        </p:txBody>
      </p:sp>
      <p:sp>
        <p:nvSpPr>
          <p:cNvPr id="8" name="Shape 6"/>
          <p:cNvSpPr/>
          <p:nvPr/>
        </p:nvSpPr>
        <p:spPr>
          <a:xfrm>
            <a:off x="3200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931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Foundation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3931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+ configure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 connectivity: gnat ping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ingest dry-run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178308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82880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2</a:t>
            </a:r>
            <a:endParaRPr lang="en-US" sz="900" dirty="0"/>
          </a:p>
        </p:txBody>
      </p:sp>
      <p:sp>
        <p:nvSpPr>
          <p:cNvPr id="13" name="Text 11"/>
          <p:cNvSpPr/>
          <p:nvPr/>
        </p:nvSpPr>
        <p:spPr>
          <a:xfrm>
            <a:off x="182880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3-5</a:t>
            </a:r>
            <a:endParaRPr lang="en-US" sz="750" dirty="0"/>
          </a:p>
        </p:txBody>
      </p:sp>
      <p:sp>
        <p:nvSpPr>
          <p:cNvPr id="14" name="Shape 12"/>
          <p:cNvSpPr/>
          <p:nvPr/>
        </p:nvSpPr>
        <p:spPr>
          <a:xfrm>
            <a:off x="178308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185623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Ingest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85623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connector configs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Primary ingest jobs (TQ, RF, CS)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FeedScheduler running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324612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29184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3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329184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6-8</a:t>
            </a:r>
            <a:endParaRPr lang="en-US" sz="750" dirty="0"/>
          </a:p>
        </p:txBody>
      </p:sp>
      <p:sp>
        <p:nvSpPr>
          <p:cNvPr id="20" name="Shape 18"/>
          <p:cNvSpPr/>
          <p:nvPr/>
        </p:nvSpPr>
        <p:spPr>
          <a:xfrm>
            <a:off x="324612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331927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Export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331927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Netskope CE ExportJob (15 min)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EDL files hourly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Verify TQ → CE → firewall EDLs</a:t>
            </a:r>
            <a:endParaRPr lang="en-US" sz="850" dirty="0"/>
          </a:p>
        </p:txBody>
      </p:sp>
      <p:sp>
        <p:nvSpPr>
          <p:cNvPr id="23" name="Shape 21"/>
          <p:cNvSpPr/>
          <p:nvPr/>
        </p:nvSpPr>
        <p:spPr>
          <a:xfrm>
            <a:off x="4709160" y="822960"/>
            <a:ext cx="1325880" cy="502920"/>
          </a:xfrm>
          <a:prstGeom prst="rect">
            <a:avLst/>
          </a:prstGeom>
          <a:solidFill>
            <a:srgbClr val="1E4D8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475488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75488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9-10</a:t>
            </a:r>
            <a:endParaRPr lang="en-US" sz="750" dirty="0"/>
          </a:p>
        </p:txBody>
      </p:sp>
      <p:sp>
        <p:nvSpPr>
          <p:cNvPr id="26" name="Shape 24"/>
          <p:cNvSpPr/>
          <p:nvPr/>
        </p:nvSpPr>
        <p:spPr>
          <a:xfrm>
            <a:off x="470916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478231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E4D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Research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478231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[claude] in config.ini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ResearchAgent query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CurationJob to scheduler</a:t>
            </a:r>
            <a:endParaRPr lang="en-US" sz="850" dirty="0"/>
          </a:p>
        </p:txBody>
      </p:sp>
      <p:sp>
        <p:nvSpPr>
          <p:cNvPr id="29" name="Shape 27"/>
          <p:cNvSpPr/>
          <p:nvPr/>
        </p:nvSpPr>
        <p:spPr>
          <a:xfrm>
            <a:off x="6172200" y="822960"/>
            <a:ext cx="1325880" cy="50292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621792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5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621792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11-14</a:t>
            </a:r>
            <a:endParaRPr lang="en-US" sz="750" dirty="0"/>
          </a:p>
        </p:txBody>
      </p:sp>
      <p:sp>
        <p:nvSpPr>
          <p:cNvPr id="32" name="Shape 30"/>
          <p:cNvSpPr/>
          <p:nvPr/>
        </p:nvSpPr>
        <p:spPr>
          <a:xfrm>
            <a:off x="617220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624535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891B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24535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report — review PDF/HTML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email delivery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ReportJob at 06:00 daily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7635240" y="822960"/>
            <a:ext cx="1325880" cy="502920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7680960" y="850392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6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7680960" y="1051560"/>
            <a:ext cx="1234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Ongoing</a:t>
            </a:r>
            <a:endParaRPr lang="en-US" sz="750" dirty="0"/>
          </a:p>
        </p:txBody>
      </p:sp>
      <p:sp>
        <p:nvSpPr>
          <p:cNvPr id="38" name="Shape 36"/>
          <p:cNvSpPr/>
          <p:nvPr/>
        </p:nvSpPr>
        <p:spPr>
          <a:xfrm>
            <a:off x="7635240" y="1417320"/>
            <a:ext cx="1325880" cy="3200400"/>
          </a:xfrm>
          <a:prstGeom prst="rect">
            <a:avLst/>
          </a:prstGeom>
          <a:solidFill>
            <a:srgbClr val="162952"/>
          </a:solidFill>
          <a:ln w="6350">
            <a:solidFill>
              <a:srgbClr val="1E4D8C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7708392" y="1508760"/>
            <a:ext cx="117957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295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Rollout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7708392" y="1847088"/>
            <a:ext cx="1179576" cy="2651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config templates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EXAMPLES.md</a:t>
            </a:r>
            <a:endParaRPr lang="en-US" sz="850" dirty="0"/>
          </a:p>
          <a:p>
            <a:pPr marL="342900" indent="-342900">
              <a:buSzPct val="100000"/>
              <a:buChar char="•"/>
            </a:pPr>
            <a:r>
              <a:rPr lang="en-US" sz="85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Library review process</a:t>
            </a:r>
            <a:endParaRPr lang="en-US" sz="85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658368"/>
            <a:ext cx="9144000" cy="54864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365760" y="91440"/>
            <a:ext cx="84124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Roadmap Items — Complete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365760" y="822960"/>
            <a:ext cx="84124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i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 Every pending item has shipped  —  v1.9.0 complete  ·  Phase 4 (v1.6) shipped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0040" y="123444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393192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667512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x_target_sectors normalized across all connectors</a:t>
            </a:r>
            <a:endParaRPr lang="en-US" sz="800" dirty="0"/>
          </a:p>
        </p:txBody>
      </p:sp>
      <p:sp>
        <p:nvSpPr>
          <p:cNvPr id="9" name="Shape 7"/>
          <p:cNvSpPr/>
          <p:nvPr/>
        </p:nvSpPr>
        <p:spPr>
          <a:xfrm>
            <a:off x="320040" y="144475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93192" y="146304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1" name="Text 9"/>
          <p:cNvSpPr/>
          <p:nvPr/>
        </p:nvSpPr>
        <p:spPr>
          <a:xfrm>
            <a:off x="667512" y="14721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DOCX renderer — pure Python (python-docx)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20040" y="165506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3192" y="16733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667512" y="168249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WorkspaceManager.default() method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320040" y="186537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93192" y="188366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7" name="Text 15"/>
          <p:cNvSpPr/>
          <p:nvPr/>
        </p:nvSpPr>
        <p:spPr>
          <a:xfrm>
            <a:off x="667512" y="18928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Copilot DirectLine token refresh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320040" y="207568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93192" y="209397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667512" y="210312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CLI: gnat report run / gnat report list</a:t>
            </a:r>
            <a:endParaRPr lang="en-US" sz="800" dirty="0"/>
          </a:p>
        </p:txBody>
      </p:sp>
      <p:sp>
        <p:nvSpPr>
          <p:cNvPr id="21" name="Shape 19"/>
          <p:cNvSpPr/>
          <p:nvPr/>
        </p:nvSpPr>
        <p:spPr>
          <a:xfrm>
            <a:off x="320040" y="228600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393192" y="23042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3" name="Text 21"/>
          <p:cNvSpPr/>
          <p:nvPr/>
        </p:nvSpPr>
        <p:spPr>
          <a:xfrm>
            <a:off x="667512" y="23134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SectorFilter in gnat.export.filters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320040" y="249631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93192" y="25146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667512" y="252374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body: rendered HTML content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320040" y="270662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393192" y="272491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29" name="Text 27"/>
          <p:cNvSpPr/>
          <p:nvPr/>
        </p:nvSpPr>
        <p:spPr>
          <a:xfrm>
            <a:off x="667512" y="273405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NLP Query Interface (builtin + Claude)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320040" y="2916936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93192" y="293522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2" name="Text 30"/>
          <p:cNvSpPr/>
          <p:nvPr/>
        </p:nvSpPr>
        <p:spPr>
          <a:xfrm>
            <a:off x="667512" y="29443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Capability Reflection + safe dispatch</a:t>
            </a:r>
            <a:endParaRPr lang="en-US" sz="800" dirty="0"/>
          </a:p>
        </p:txBody>
      </p:sp>
      <p:sp>
        <p:nvSpPr>
          <p:cNvPr id="33" name="Shape 31"/>
          <p:cNvSpPr/>
          <p:nvPr/>
        </p:nvSpPr>
        <p:spPr>
          <a:xfrm>
            <a:off x="320040" y="3127248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93192" y="314553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5" name="Text 33"/>
          <p:cNvSpPr/>
          <p:nvPr/>
        </p:nvSpPr>
        <p:spPr>
          <a:xfrm>
            <a:off x="667512" y="315468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Connectors Batch 2 — 11 new platforms (v1.0)</a:t>
            </a:r>
            <a:endParaRPr lang="en-US" sz="800" dirty="0"/>
          </a:p>
        </p:txBody>
      </p:sp>
      <p:sp>
        <p:nvSpPr>
          <p:cNvPr id="36" name="Shape 34"/>
          <p:cNvSpPr/>
          <p:nvPr/>
        </p:nvSpPr>
        <p:spPr>
          <a:xfrm>
            <a:off x="320040" y="333756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393192" y="33558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667512" y="33649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XSOAR Content Pack Generator</a:t>
            </a:r>
            <a:endParaRPr lang="en-US" sz="800" dirty="0"/>
          </a:p>
        </p:txBody>
      </p:sp>
      <p:sp>
        <p:nvSpPr>
          <p:cNvPr id="39" name="Shape 37"/>
          <p:cNvSpPr/>
          <p:nvPr/>
        </p:nvSpPr>
        <p:spPr>
          <a:xfrm>
            <a:off x="320040" y="354787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93192" y="3566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1" name="Text 39"/>
          <p:cNvSpPr/>
          <p:nvPr/>
        </p:nvSpPr>
        <p:spPr>
          <a:xfrm>
            <a:off x="667512" y="3575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containerization (3-service stack)</a:t>
            </a:r>
            <a:endParaRPr lang="en-US" sz="800" dirty="0"/>
          </a:p>
        </p:txBody>
      </p:sp>
      <p:sp>
        <p:nvSpPr>
          <p:cNvPr id="42" name="Shape 40"/>
          <p:cNvSpPr/>
          <p:nvPr/>
        </p:nvSpPr>
        <p:spPr>
          <a:xfrm>
            <a:off x="320040" y="375818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393192" y="37764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4" name="Text 42"/>
          <p:cNvSpPr/>
          <p:nvPr/>
        </p:nvSpPr>
        <p:spPr>
          <a:xfrm>
            <a:off x="667512" y="37856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Database Migrations (Alembic + gnat-db CLI)</a:t>
            </a:r>
            <a:endParaRPr lang="en-US" sz="800" dirty="0"/>
          </a:p>
        </p:txBody>
      </p:sp>
      <p:sp>
        <p:nvSpPr>
          <p:cNvPr id="45" name="Shape 43"/>
          <p:cNvSpPr/>
          <p:nvPr/>
        </p:nvSpPr>
        <p:spPr>
          <a:xfrm>
            <a:off x="320040" y="396849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393192" y="39867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47" name="Text 45"/>
          <p:cNvSpPr/>
          <p:nvPr/>
        </p:nvSpPr>
        <p:spPr>
          <a:xfrm>
            <a:off x="667512" y="39959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System (PluginRegistry + HookBus + 14 events)</a:t>
            </a:r>
            <a:endParaRPr lang="en-US" sz="800" dirty="0"/>
          </a:p>
        </p:txBody>
      </p:sp>
      <p:sp>
        <p:nvSpPr>
          <p:cNvPr id="48" name="Shape 46"/>
          <p:cNvSpPr/>
          <p:nvPr/>
        </p:nvSpPr>
        <p:spPr>
          <a:xfrm>
            <a:off x="320040" y="417880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393192" y="41970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0" name="Text 48"/>
          <p:cNvSpPr/>
          <p:nvPr/>
        </p:nvSpPr>
        <p:spPr>
          <a:xfrm>
            <a:off x="667512" y="42062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WorkflowEngine DAG (PhishingTriage · IncidentResponse)</a:t>
            </a:r>
            <a:endParaRPr lang="en-US" sz="800" dirty="0"/>
          </a:p>
        </p:txBody>
      </p:sp>
      <p:sp>
        <p:nvSpPr>
          <p:cNvPr id="51" name="Shape 49"/>
          <p:cNvSpPr/>
          <p:nvPr/>
        </p:nvSpPr>
        <p:spPr>
          <a:xfrm>
            <a:off x="4727448" y="123444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4800600" y="125272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3" name="Text 51"/>
          <p:cNvSpPr/>
          <p:nvPr/>
        </p:nvSpPr>
        <p:spPr>
          <a:xfrm>
            <a:off x="5074920" y="126187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Terminal UI (Textual, SSH-safe, F1–F6 screens)</a:t>
            </a:r>
            <a:endParaRPr lang="en-US" sz="800" dirty="0"/>
          </a:p>
        </p:txBody>
      </p:sp>
      <p:sp>
        <p:nvSpPr>
          <p:cNvPr id="54" name="Shape 52"/>
          <p:cNvSpPr/>
          <p:nvPr/>
        </p:nvSpPr>
        <p:spPr>
          <a:xfrm>
            <a:off x="4727448" y="144475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4800600" y="146304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5074920" y="147218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Web Dashboard (FastAPI, X-Api-Key, rate-limited)</a:t>
            </a:r>
            <a:endParaRPr lang="en-US" sz="800" dirty="0"/>
          </a:p>
        </p:txBody>
      </p:sp>
      <p:sp>
        <p:nvSpPr>
          <p:cNvPr id="57" name="Shape 55"/>
          <p:cNvSpPr/>
          <p:nvPr/>
        </p:nvSpPr>
        <p:spPr>
          <a:xfrm>
            <a:off x="4727448" y="165506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58" name="Text 56"/>
          <p:cNvSpPr/>
          <p:nvPr/>
        </p:nvSpPr>
        <p:spPr>
          <a:xfrm>
            <a:off x="4800600" y="167335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59" name="Text 57"/>
          <p:cNvSpPr/>
          <p:nvPr/>
        </p:nvSpPr>
        <p:spPr>
          <a:xfrm>
            <a:off x="5074920" y="168249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Connector Health + Drift Monitoring</a:t>
            </a:r>
            <a:endParaRPr lang="en-US" sz="800" dirty="0"/>
          </a:p>
        </p:txBody>
      </p:sp>
      <p:sp>
        <p:nvSpPr>
          <p:cNvPr id="60" name="Shape 58"/>
          <p:cNvSpPr/>
          <p:nvPr/>
        </p:nvSpPr>
        <p:spPr>
          <a:xfrm>
            <a:off x="4727448" y="186537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1" name="Text 59"/>
          <p:cNvSpPr/>
          <p:nvPr/>
        </p:nvSpPr>
        <p:spPr>
          <a:xfrm>
            <a:off x="4800600" y="188366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2" name="Text 60"/>
          <p:cNvSpPr/>
          <p:nvPr/>
        </p:nvSpPr>
        <p:spPr>
          <a:xfrm>
            <a:off x="5074920" y="189280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Upstream Contribution Pipeline (7-step gate)</a:t>
            </a:r>
            <a:endParaRPr lang="en-US" sz="800" dirty="0"/>
          </a:p>
        </p:txBody>
      </p:sp>
      <p:sp>
        <p:nvSpPr>
          <p:cNvPr id="63" name="Shape 61"/>
          <p:cNvSpPr/>
          <p:nvPr/>
        </p:nvSpPr>
        <p:spPr>
          <a:xfrm>
            <a:off x="4727448" y="207568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4" name="Text 62"/>
          <p:cNvSpPr/>
          <p:nvPr/>
        </p:nvSpPr>
        <p:spPr>
          <a:xfrm>
            <a:off x="4800600" y="209397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5" name="Text 63"/>
          <p:cNvSpPr/>
          <p:nvPr/>
        </p:nvSpPr>
        <p:spPr>
          <a:xfrm>
            <a:off x="5074920" y="210312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TAXII 2.1 Server (full read + write protocol)</a:t>
            </a:r>
            <a:endParaRPr lang="en-US" sz="800" dirty="0"/>
          </a:p>
        </p:txBody>
      </p:sp>
      <p:sp>
        <p:nvSpPr>
          <p:cNvPr id="66" name="Shape 64"/>
          <p:cNvSpPr/>
          <p:nvPr/>
        </p:nvSpPr>
        <p:spPr>
          <a:xfrm>
            <a:off x="4727448" y="228600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67" name="Text 65"/>
          <p:cNvSpPr/>
          <p:nvPr/>
        </p:nvSpPr>
        <p:spPr>
          <a:xfrm>
            <a:off x="4800600" y="230428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68" name="Text 66"/>
          <p:cNvSpPr/>
          <p:nvPr/>
        </p:nvSpPr>
        <p:spPr>
          <a:xfrm>
            <a:off x="5074920" y="231343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STIX 2.1 Pattern Validator (two-tier)</a:t>
            </a:r>
            <a:endParaRPr lang="en-US" sz="800" dirty="0"/>
          </a:p>
        </p:txBody>
      </p:sp>
      <p:sp>
        <p:nvSpPr>
          <p:cNvPr id="69" name="Shape 67"/>
          <p:cNvSpPr/>
          <p:nvPr/>
        </p:nvSpPr>
        <p:spPr>
          <a:xfrm>
            <a:off x="4727448" y="249631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0" name="Text 68"/>
          <p:cNvSpPr/>
          <p:nvPr/>
        </p:nvSpPr>
        <p:spPr>
          <a:xfrm>
            <a:off x="4800600" y="251460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1" name="Text 69"/>
          <p:cNvSpPr/>
          <p:nvPr/>
        </p:nvSpPr>
        <p:spPr>
          <a:xfrm>
            <a:off x="5074920" y="252374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Multi-Tenant Workspace Isolation</a:t>
            </a:r>
            <a:endParaRPr lang="en-US" sz="800" dirty="0"/>
          </a:p>
        </p:txBody>
      </p:sp>
      <p:sp>
        <p:nvSpPr>
          <p:cNvPr id="72" name="Shape 70"/>
          <p:cNvSpPr/>
          <p:nvPr/>
        </p:nvSpPr>
        <p:spPr>
          <a:xfrm>
            <a:off x="4727448" y="270662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3" name="Text 71"/>
          <p:cNvSpPr/>
          <p:nvPr/>
        </p:nvSpPr>
        <p:spPr>
          <a:xfrm>
            <a:off x="4800600" y="272491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4" name="Text 72"/>
          <p:cNvSpPr/>
          <p:nvPr/>
        </p:nvSpPr>
        <p:spPr>
          <a:xfrm>
            <a:off x="5074920" y="273405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Docker Integration Test Harness</a:t>
            </a:r>
            <a:endParaRPr lang="en-US" sz="800" dirty="0"/>
          </a:p>
        </p:txBody>
      </p:sp>
      <p:sp>
        <p:nvSpPr>
          <p:cNvPr id="75" name="Shape 73"/>
          <p:cNvSpPr/>
          <p:nvPr/>
        </p:nvSpPr>
        <p:spPr>
          <a:xfrm>
            <a:off x="4727448" y="2916936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6" name="Text 74"/>
          <p:cNvSpPr/>
          <p:nvPr/>
        </p:nvSpPr>
        <p:spPr>
          <a:xfrm>
            <a:off x="4800600" y="293522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77" name="Text 75"/>
          <p:cNvSpPr/>
          <p:nvPr/>
        </p:nvSpPr>
        <p:spPr>
          <a:xfrm>
            <a:off x="5074920" y="294436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new connectors v1.1 — 25 in v1.2 — 9 in v1.3</a:t>
            </a:r>
            <a:endParaRPr lang="en-US" sz="800" dirty="0"/>
          </a:p>
        </p:txBody>
      </p:sp>
      <p:sp>
        <p:nvSpPr>
          <p:cNvPr id="78" name="Shape 76"/>
          <p:cNvSpPr/>
          <p:nvPr/>
        </p:nvSpPr>
        <p:spPr>
          <a:xfrm>
            <a:off x="4727448" y="3127248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79" name="Text 77"/>
          <p:cNvSpPr/>
          <p:nvPr/>
        </p:nvSpPr>
        <p:spPr>
          <a:xfrm>
            <a:off x="4800600" y="314553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0" name="Text 78"/>
          <p:cNvSpPr/>
          <p:nvPr/>
        </p:nvSpPr>
        <p:spPr>
          <a:xfrm>
            <a:off x="5074920" y="315468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connectors total in CLIENT_REGISTRY</a:t>
            </a:r>
            <a:endParaRPr lang="en-US" sz="800" dirty="0"/>
          </a:p>
        </p:txBody>
      </p:sp>
      <p:sp>
        <p:nvSpPr>
          <p:cNvPr id="81" name="Shape 79"/>
          <p:cNvSpPr/>
          <p:nvPr/>
        </p:nvSpPr>
        <p:spPr>
          <a:xfrm>
            <a:off x="4727448" y="3337560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2" name="Text 80"/>
          <p:cNvSpPr/>
          <p:nvPr/>
        </p:nvSpPr>
        <p:spPr>
          <a:xfrm>
            <a:off x="4800600" y="335584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3" name="Text 81"/>
          <p:cNvSpPr/>
          <p:nvPr/>
        </p:nvSpPr>
        <p:spPr>
          <a:xfrm>
            <a:off x="5074920" y="336499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LLMClient: Claude · OpenAI · Grok · Gemini (v1.3)</a:t>
            </a:r>
            <a:endParaRPr lang="en-US" sz="800" dirty="0"/>
          </a:p>
        </p:txBody>
      </p:sp>
      <p:sp>
        <p:nvSpPr>
          <p:cNvPr id="84" name="Shape 82"/>
          <p:cNvSpPr/>
          <p:nvPr/>
        </p:nvSpPr>
        <p:spPr>
          <a:xfrm>
            <a:off x="4727448" y="3547872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5" name="Text 83"/>
          <p:cNvSpPr/>
          <p:nvPr/>
        </p:nvSpPr>
        <p:spPr>
          <a:xfrm>
            <a:off x="4800600" y="356616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6" name="Text 84"/>
          <p:cNvSpPr/>
          <p:nvPr/>
        </p:nvSpPr>
        <p:spPr>
          <a:xfrm>
            <a:off x="5074920" y="357530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Policy Engine (RBAC · Permission matrix · audit hook)</a:t>
            </a:r>
            <a:endParaRPr lang="en-US" sz="800" dirty="0"/>
          </a:p>
        </p:txBody>
      </p:sp>
      <p:sp>
        <p:nvSpPr>
          <p:cNvPr id="87" name="Shape 85"/>
          <p:cNvSpPr/>
          <p:nvPr/>
        </p:nvSpPr>
        <p:spPr>
          <a:xfrm>
            <a:off x="4727448" y="3758184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88" name="Text 86"/>
          <p:cNvSpPr/>
          <p:nvPr/>
        </p:nvSpPr>
        <p:spPr>
          <a:xfrm>
            <a:off x="4800600" y="377647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89" name="Text 87"/>
          <p:cNvSpPr/>
          <p:nvPr/>
        </p:nvSpPr>
        <p:spPr>
          <a:xfrm>
            <a:off x="5074920" y="378561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Lineage tracking (append-only event log)</a:t>
            </a:r>
            <a:endParaRPr lang="en-US" sz="800" dirty="0"/>
          </a:p>
        </p:txBody>
      </p:sp>
      <p:sp>
        <p:nvSpPr>
          <p:cNvPr id="90" name="Shape 88"/>
          <p:cNvSpPr/>
          <p:nvPr/>
        </p:nvSpPr>
        <p:spPr>
          <a:xfrm>
            <a:off x="4727448" y="3968496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1" name="Text 89"/>
          <p:cNvSpPr/>
          <p:nvPr/>
        </p:nvSpPr>
        <p:spPr>
          <a:xfrm>
            <a:off x="4800600" y="3986784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2" name="Text 90"/>
          <p:cNvSpPr/>
          <p:nvPr/>
        </p:nvSpPr>
        <p:spPr>
          <a:xfrm>
            <a:off x="5074920" y="3995928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Analyst Metrics (ring-buffer · 9 metric types)</a:t>
            </a:r>
            <a:endParaRPr lang="en-US" sz="800" dirty="0"/>
          </a:p>
        </p:txBody>
      </p:sp>
      <p:sp>
        <p:nvSpPr>
          <p:cNvPr id="93" name="Shape 91"/>
          <p:cNvSpPr/>
          <p:nvPr/>
        </p:nvSpPr>
        <p:spPr>
          <a:xfrm>
            <a:off x="4727448" y="4178808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4" name="Text 92"/>
          <p:cNvSpPr/>
          <p:nvPr/>
        </p:nvSpPr>
        <p:spPr>
          <a:xfrm>
            <a:off x="4800600" y="4197096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5" name="Text 93"/>
          <p:cNvSpPr/>
          <p:nvPr/>
        </p:nvSpPr>
        <p:spPr>
          <a:xfrm>
            <a:off x="5074920" y="4206240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Intel Review Queue (submit → approve → promote)</a:t>
            </a:r>
            <a:endParaRPr lang="en-US" sz="800" dirty="0"/>
          </a:p>
        </p:txBody>
      </p:sp>
      <p:sp>
        <p:nvSpPr>
          <p:cNvPr id="96" name="Shape 94"/>
          <p:cNvSpPr/>
          <p:nvPr/>
        </p:nvSpPr>
        <p:spPr>
          <a:xfrm>
            <a:off x="4727448" y="4389120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97" name="Text 95"/>
          <p:cNvSpPr/>
          <p:nvPr/>
        </p:nvSpPr>
        <p:spPr>
          <a:xfrm>
            <a:off x="4800600" y="4407408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98" name="Text 96"/>
          <p:cNvSpPr/>
          <p:nvPr/>
        </p:nvSpPr>
        <p:spPr>
          <a:xfrm>
            <a:off x="5074920" y="4416552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ExecutionContext + Domain Boundaries (v1.6)</a:t>
            </a:r>
            <a:endParaRPr lang="en-US" sz="800" dirty="0"/>
          </a:p>
        </p:txBody>
      </p:sp>
      <p:sp>
        <p:nvSpPr>
          <p:cNvPr id="99" name="Shape 97"/>
          <p:cNvSpPr/>
          <p:nvPr/>
        </p:nvSpPr>
        <p:spPr>
          <a:xfrm>
            <a:off x="4727448" y="4599432"/>
            <a:ext cx="4069080" cy="192024"/>
          </a:xfrm>
          <a:prstGeom prst="rect">
            <a:avLst/>
          </a:prstGeom>
          <a:solidFill>
            <a:srgbClr val="1629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0" name="Text 98"/>
          <p:cNvSpPr/>
          <p:nvPr/>
        </p:nvSpPr>
        <p:spPr>
          <a:xfrm>
            <a:off x="4800600" y="4617720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1" name="Text 99"/>
          <p:cNvSpPr/>
          <p:nvPr/>
        </p:nvSpPr>
        <p:spPr>
          <a:xfrm>
            <a:off x="5074920" y="4626864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HypothesisEngine + NegativeEvidence + ReasoningEngine</a:t>
            </a:r>
            <a:endParaRPr lang="en-US" sz="800" dirty="0"/>
          </a:p>
        </p:txBody>
      </p:sp>
      <p:sp>
        <p:nvSpPr>
          <p:cNvPr id="102" name="Shape 100"/>
          <p:cNvSpPr/>
          <p:nvPr/>
        </p:nvSpPr>
        <p:spPr>
          <a:xfrm>
            <a:off x="4727448" y="4809744"/>
            <a:ext cx="4069080" cy="192024"/>
          </a:xfrm>
          <a:prstGeom prst="rect">
            <a:avLst/>
          </a:prstGeom>
          <a:solidFill>
            <a:srgbClr val="1E2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3" name="Text 101"/>
          <p:cNvSpPr/>
          <p:nvPr/>
        </p:nvSpPr>
        <p:spPr>
          <a:xfrm>
            <a:off x="4800600" y="4828032"/>
            <a:ext cx="25603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</a:t>
            </a:r>
            <a:endParaRPr lang="en-US" sz="950" dirty="0"/>
          </a:p>
        </p:txBody>
      </p:sp>
      <p:sp>
        <p:nvSpPr>
          <p:cNvPr id="104" name="Text 102"/>
          <p:cNvSpPr/>
          <p:nvPr/>
        </p:nvSpPr>
        <p:spPr>
          <a:xfrm>
            <a:off x="5074920" y="4837176"/>
            <a:ext cx="3657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4: AgentGovernor + HITLGateway + Workspace Trust Boundary</a:t>
            </a:r>
            <a:endParaRPr lang="en-US" sz="800" dirty="0"/>
          </a:p>
        </p:txBody>
      </p:sp>
      <p:sp>
        <p:nvSpPr>
          <p:cNvPr id="105" name="Shape 103"/>
          <p:cNvSpPr/>
          <p:nvPr/>
        </p:nvSpPr>
        <p:spPr>
          <a:xfrm>
            <a:off x="320040" y="4837176"/>
            <a:ext cx="8503920" cy="201168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06" name="Text 104"/>
          <p:cNvSpPr/>
          <p:nvPr/>
        </p:nvSpPr>
        <p:spPr>
          <a:xfrm>
            <a:off x="429768" y="4855464"/>
            <a:ext cx="8375904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Reference: EXAMPLES.md  ·  IMPLEMENTATION_PLAN.md  ·  ARCHITECTURE_DECISIONS.md  ·  CHANGELOG.md</a:t>
            </a:r>
            <a:endParaRPr lang="en-US" sz="8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0F204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891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57200" y="91440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GNAT</a:t>
            </a:r>
            <a:endParaRPr lang="en-US" sz="5200" dirty="0"/>
          </a:p>
        </p:txBody>
      </p:sp>
      <p:sp>
        <p:nvSpPr>
          <p:cNvPr id="4" name="Text 2"/>
          <p:cNvSpPr/>
          <p:nvPr/>
        </p:nvSpPr>
        <p:spPr>
          <a:xfrm>
            <a:off x="457200" y="182880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000" i="1" dirty="0">
                <a:solidFill>
                  <a:srgbClr val="A5F3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library. Every platform. Total control.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487168"/>
            <a:ext cx="8229600" cy="1325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159 connectors · STIX 2.1 ORM · Ingest + Export pipelines · Kafka telemetry ingestion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HuntGNAT: STIX → Sigma/YARA/Suricata/Snort · Hunt packages · ATT&amp;CK coverage · Drift detection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Attribution: Campaign tracking · Diamond Model · Kill-chain · Actor profiles · Infrastructure classification</a:t>
            </a:r>
            <a:endParaRPr lang="en-US" sz="1300" dirty="0"/>
          </a:p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E8EFF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 agents (Claude · OpenAI · Grok · Gemini) · TAXII 2.1 · Policy RBAC  ·  5,100+ tests · ~$50/month Azure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3886200"/>
            <a:ext cx="7772400" cy="0"/>
          </a:xfrm>
          <a:prstGeom prst="line">
            <a:avLst/>
          </a:prstGeom>
          <a:noFill/>
          <a:ln w="19050">
            <a:solidFill>
              <a:srgbClr val="0891B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02336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Version 1.9.0  |  Python 3.9+  |  Apache 2.0  |  EXAMPLES.md · IMPLEMENTATION_PLAN.md · README.md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33</Slides>
  <Notes>33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33</vt:i4>
      </vt:variant>
    </vt:vector>
  </HeadingPairs>
  <TitlesOfParts>
    <vt:vector size="3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GNAT: GNAT's Not Another TIP</dc:title>
  <dc:subject>PptxGenJS Presentation</dc:subject>
  <dc:creator>wrhalpin@gmail.com</dc:creator>
  <cp:lastModifiedBy>wrhalpin@gmail.com</cp:lastModifiedBy>
  <cp:revision>1</cp:revision>
  <dcterms:created xsi:type="dcterms:W3CDTF">2026-04-20T16:02:20Z</dcterms:created>
  <dcterms:modified xsi:type="dcterms:W3CDTF">2026-04-20T16:02:20Z</dcterms:modified>
</cp:coreProperties>
</file>